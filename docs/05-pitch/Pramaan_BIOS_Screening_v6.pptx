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1.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6858000" cx="12192000"/>
  <p:notesSz cx="6858000" cy="12192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04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We're team Caffeinated Nerds, on Frontier problem PS-04: Fast and Secure Online Transaction Authentication. Meet Asha. She's 72. A fake CBI officer calls her. On her own phone, at home, she types her own UPI PIN, and the bank approves 85,000 rupees to a scammer. Every check passed: right person, right phone, right PIN. A PIN checks who you are. Nobody checks what's happening. This is now the main problem. Indians lost about 22,500 crore rupees to cyber fraud in 2025, and 85 percent of that came from investment and digital-arrest scams, where the victim sends the money. The RBI says account-takeover fraud is now negligible, and 98.5 percent of fraud value is in payments above 10,000 rupees. We build for banks, UPI apps and gateways, who must answer well inside UPI's 15-second response limit. RBI's proposed fix delays every payment above 10,000 rupees by an hour, which slows every honest user. We want precision instead. Primary SDG 16.4, supported by 8.10 and 9.1.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families of solutions exist today. First, static two-factor auth: PIN, OTP, 3-D Secure. It's mandatory, but it checks the credential, not the context. A coached victim simply types it in. Second, commercial risk engines like Stripe Radar, Sift and BioCatch. They're strong, but closed, the output is a score for an analyst, and a high score triggers the same OTP whatever the kind of risk. Third, India's shared intelligence: NPCI's fraud monitoring, DoT's Fraud Risk Indicator, RBI's MuleHunter. They flag risky numbers and accounts, but only after someone reports them, and they score the receiver, not this session. So the gap: nothing lightweight combines all three signal families into an explained decision and picks the challenge that actually stops the risk.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solution is Pramaan, which means proof. It's a cloud risk API that a bank or UPI app calls just before the PIN step. It returns allow, challenge or block in milliseconds, with reasons in plain language, and it sits on top of mandated 2FA. Three things are different. We compare each payment with this user's own history. Thresholds depend on the amount, so small payments are almost never interrupted. And the challenge fits the risk. Take the same 85,000-rupee payment in four situations. Usual payee, own phone: allowed. New phone and a SIM changed yesterday: likely an impostor, so we ask for approval with a passkey on the owner's registered phone, which the new phone doesn't have. Own phone at home, but on a call and pasting a new UPI ID: likely a coached victim. An OTP won't help, because she'd type it in. So we pause the payment for 30 minutes with a scam warning, and her son Rohan gets Approve or Cancel on Telegram. It only goes through if he approves. An emulator retrying the PIN 15 times in 10 minutes: blocked. Each decision carries its reasons: here, she's on a call, it's a new receiver, and it's 71 times her usual amount.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how it works. The demo payment app, with our small JavaScript SDK, sends the payment, device info and session behaviour: typing rhythm, a pasted payee, time to pay. Call and screen-share state need a mobile SDK, so in the web demo they're toggles. Our FastAPI service validates the request. If it ever errors or takes more than 150 milliseconds, it falls back to the bank's standard 2FA, so it's never weaker than today's check. The feature builder computes about 25 features against this user's own history from the profile store. The risk engine runs hard rules first, then LightGBM gives a fraud probability, TreeSHAP gives each signal's share, which becomes the reasons and the risk type, and a cost policy picks the decision and the challenge. After the decision, off the scoring path: an impostor challenge is a WebAuthn passkey on the registered phone, and a family challenge goes through an n8n workflow to Telegram. The stack is free. The data is synthetic, and we say so: no public dataset has these signals together. The thresholds get stricter as the amount grows, and blocking needs 90 percent confidence or a hard rule.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the hack we'll build a live authenticate API with the 2FA fail-safe, the risk engine with reasons, a demo UPI app with a real passkey check on the registered phone and the n8n and Telegram family loop, a dashboard, and a replay that runs our policy and RBI's blanket delay on the same traffic. The risks are real. Our data is synthetic, so we add honest look-alikes, report results per attack type and check against public data. A browser can't see call state, so a missing signal counts as unknown, never safe. False positives hurt people, so we only block at very high confidence and keep challenges under five percent. And behaviour data is personal data, so we keep derived features only. Our targets: stop at least 80 percent of scam-type fraud while challenging at most 5 percent of honest payments, let 90 percent of honest big transfers through with no delay, and decide in under 50 milliseconds.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75646F-75AE-287F-BF55-16CDE5860235}"/>
              </a:ext>
            </a:extLst>
          </p:cNvPr>
          <p:cNvPicPr>
            <a:picLocks noChangeAspect="1"/>
          </p:cNvPicPr>
          <p:nvPr userDrawn="1"/>
        </p:nvPicPr>
        <p:blipFill>
          <a:blip r:embed="rId2"/>
          <a:stretch>
            <a:fillRect/>
          </a:stretch>
        </p:blipFill>
        <p:spPr>
          <a:xfrm>
            <a:off x="392844" y="413302"/>
            <a:ext cx="2446230" cy="93046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1 OF 5</a:t>
            </a:r>
            <a:endParaRPr lang="en-US" sz="1200" dirty="0"/>
          </a:p>
        </p:txBody>
      </p:sp>
      <p:sp>
        <p:nvSpPr>
          <p:cNvPr id="4" name="Text 2"/>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Problem, Stakeholder &amp; SDGs</a:t>
            </a:r>
            <a:endParaRPr lang="en-US" sz="2800" dirty="0"/>
          </a:p>
        </p:txBody>
      </p:sp>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Fraud has moved past OTPs: victims now approve the payment themselves</a:t>
            </a:r>
            <a:endParaRPr lang="en-US" sz="2000" dirty="0"/>
          </a:p>
        </p:txBody>
      </p:sp>
      <p:sp>
        <p:nvSpPr>
          <p:cNvPr id="7" name="Team strip"/>
          <p:cNvSpPr/>
          <p:nvPr/>
        </p:nvSpPr>
        <p:spPr>
          <a:xfrm>
            <a:off x="3794760" y="603504"/>
            <a:ext cx="7955279" cy="822960"/>
          </a:xfrm>
          <a:prstGeom prst="roundRect">
            <a:avLst>
              <a:gd name="adj" fmla="val 4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l"/>
            <a:r>
              <a:rPr sz="1150" b="1" i="0">
                <a:solidFill>
                  <a:srgbClr val="1E2761"/>
                </a:solidFill>
                <a:latin typeface="Calibri"/>
              </a:rPr>
              <a:t>Team Caffeinated Nerds</a:t>
            </a:r>
            <a:r>
              <a:rPr sz="1100" b="0" i="0">
                <a:solidFill>
                  <a:srgbClr val="1E2761"/>
                </a:solidFill>
                <a:latin typeface="Calibri"/>
              </a:rPr>
              <a:t>   ·   Challenge: </a:t>
            </a:r>
            <a:r>
              <a:rPr sz="1100" b="1" i="0">
                <a:solidFill>
                  <a:srgbClr val="1E2761"/>
                </a:solidFill>
                <a:latin typeface="Calibri"/>
              </a:rPr>
              <a:t>Frontier · PS-04</a:t>
            </a:r>
            <a:r>
              <a:rPr sz="1100" b="0" i="0">
                <a:solidFill>
                  <a:srgbClr val="1E2761"/>
                </a:solidFill>
                <a:latin typeface="Calibri"/>
              </a:rPr>
              <a:t> · Fast and Secure Online Transaction Authentication</a:t>
            </a:r>
          </a:p>
        </p:txBody>
      </p:sp>
      <p:sp>
        <p:nvSpPr>
          <p:cNvPr id="8" name="Member 1"/>
          <p:cNvSpPr txBox="1"/>
          <p:nvPr/>
        </p:nvSpPr>
        <p:spPr>
          <a:xfrm>
            <a:off x="3904487"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Bhavyam Misra</a:t>
            </a:r>
          </a:p>
          <a:p>
            <a:pPr algn="l"/>
            <a:r>
              <a:rPr sz="1000" b="0" i="0">
                <a:solidFill>
                  <a:srgbClr val="5A6275"/>
                </a:solidFill>
                <a:latin typeface="Calibri"/>
              </a:rPr>
              <a:t>Roll No: 1024030535</a:t>
            </a:r>
          </a:p>
        </p:txBody>
      </p:sp>
      <p:sp>
        <p:nvSpPr>
          <p:cNvPr id="9" name="Member 2"/>
          <p:cNvSpPr txBox="1"/>
          <p:nvPr/>
        </p:nvSpPr>
        <p:spPr>
          <a:xfrm>
            <a:off x="5852159"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Gunagye Jain</a:t>
            </a:r>
          </a:p>
          <a:p>
            <a:pPr algn="l"/>
            <a:r>
              <a:rPr sz="1000" b="0" i="0">
                <a:solidFill>
                  <a:srgbClr val="5A6275"/>
                </a:solidFill>
                <a:latin typeface="Calibri"/>
              </a:rPr>
              <a:t>Roll No: 1024030019</a:t>
            </a:r>
          </a:p>
        </p:txBody>
      </p:sp>
      <p:sp>
        <p:nvSpPr>
          <p:cNvPr id="10" name="Member 3"/>
          <p:cNvSpPr txBox="1"/>
          <p:nvPr/>
        </p:nvSpPr>
        <p:spPr>
          <a:xfrm>
            <a:off x="7799831"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Abhijay Nagal</a:t>
            </a:r>
          </a:p>
          <a:p>
            <a:pPr algn="l"/>
            <a:r>
              <a:rPr sz="1000" b="0" i="0">
                <a:solidFill>
                  <a:srgbClr val="5A6275"/>
                </a:solidFill>
                <a:latin typeface="Calibri"/>
              </a:rPr>
              <a:t>Roll No: 1024170013</a:t>
            </a:r>
          </a:p>
        </p:txBody>
      </p:sp>
      <p:sp>
        <p:nvSpPr>
          <p:cNvPr id="11" name="Member 4"/>
          <p:cNvSpPr txBox="1"/>
          <p:nvPr/>
        </p:nvSpPr>
        <p:spPr>
          <a:xfrm>
            <a:off x="9747504"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Shefali Sharma</a:t>
            </a:r>
          </a:p>
          <a:p>
            <a:pPr algn="l"/>
            <a:r>
              <a:rPr sz="1000" b="0" i="0">
                <a:solidFill>
                  <a:srgbClr val="5A6275"/>
                </a:solidFill>
                <a:latin typeface="Calibri"/>
              </a:rPr>
              <a:t>Roll No: 1024030284</a:t>
            </a:r>
          </a:p>
        </p:txBody>
      </p:sp>
      <p:sp>
        <p:nvSpPr>
          <p:cNvPr id="12" name="Problem"/>
          <p:cNvSpPr txBox="1"/>
          <p:nvPr/>
        </p:nvSpPr>
        <p:spPr>
          <a:xfrm>
            <a:off x="457200" y="2560320"/>
            <a:ext cx="6035040" cy="1143000"/>
          </a:xfrm>
          <a:prstGeom prst="rect">
            <a:avLst/>
          </a:prstGeom>
          <a:noFill/>
        </p:spPr>
        <p:txBody>
          <a:bodyPr wrap="square" lIns="0" rIns="0" tIns="0" bIns="0" anchor="t">
            <a:spAutoFit/>
          </a:bodyPr>
          <a:lstStyle/>
          <a:p>
            <a:pPr algn="l">
              <a:spcAft>
                <a:spcPts val="300"/>
              </a:spcAft>
            </a:pPr>
            <a:r>
              <a:rPr sz="1050" b="1" i="0">
                <a:solidFill>
                  <a:srgbClr val="1E2761"/>
                </a:solidFill>
                <a:latin typeface="Calibri"/>
              </a:rPr>
              <a:t>THE PROBLEM</a:t>
            </a:r>
          </a:p>
          <a:p>
            <a:pPr algn="l"/>
            <a:r>
              <a:rPr sz="1300" b="0" i="0">
                <a:solidFill>
                  <a:srgbClr val="222222"/>
                </a:solidFill>
                <a:latin typeface="Calibri"/>
              </a:rPr>
              <a:t>Asha, 72, gets a call from a fake “CBI officer”. On her own phone, at home, she types her own UPI PIN. Right person, right phone, right PIN: the bank </a:t>
            </a:r>
            <a:r>
              <a:rPr sz="1300" b="1" i="0">
                <a:solidFill>
                  <a:srgbClr val="C62828"/>
                </a:solidFill>
                <a:latin typeface="Calibri"/>
              </a:rPr>
              <a:t>approves ₹85,000 to a scammer</a:t>
            </a:r>
            <a:r>
              <a:rPr sz="1300" b="0" i="0">
                <a:solidFill>
                  <a:srgbClr val="222222"/>
                </a:solidFill>
                <a:latin typeface="Calibri"/>
              </a:rPr>
              <a:t>.</a:t>
            </a:r>
          </a:p>
        </p:txBody>
      </p:sp>
      <p:sp>
        <p:nvSpPr>
          <p:cNvPr id="13" name="Insight bar"/>
          <p:cNvSpPr/>
          <p:nvPr/>
        </p:nvSpPr>
        <p:spPr>
          <a:xfrm>
            <a:off x="457200" y="3547872"/>
            <a:ext cx="54864" cy="56692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nsight"/>
          <p:cNvSpPr txBox="1"/>
          <p:nvPr/>
        </p:nvSpPr>
        <p:spPr>
          <a:xfrm>
            <a:off x="658368" y="3547872"/>
            <a:ext cx="5852160" cy="566928"/>
          </a:xfrm>
          <a:prstGeom prst="rect">
            <a:avLst/>
          </a:prstGeom>
          <a:noFill/>
        </p:spPr>
        <p:txBody>
          <a:bodyPr wrap="square" lIns="0" rIns="0" tIns="0" bIns="0" anchor="ctr">
            <a:spAutoFit/>
          </a:bodyPr>
          <a:lstStyle/>
          <a:p>
            <a:pPr algn="l"/>
            <a:r>
              <a:rPr sz="1800" b="0" i="0">
                <a:solidFill>
                  <a:srgbClr val="1E2761"/>
                </a:solidFill>
                <a:latin typeface="Cambria"/>
              </a:rPr>
              <a:t>A PIN checks </a:t>
            </a:r>
            <a:r>
              <a:rPr sz="1800" b="1" i="0">
                <a:solidFill>
                  <a:srgbClr val="1E2761"/>
                </a:solidFill>
                <a:latin typeface="Cambria"/>
              </a:rPr>
              <a:t>who</a:t>
            </a:r>
            <a:r>
              <a:rPr sz="1800" b="0" i="0">
                <a:solidFill>
                  <a:srgbClr val="1E2761"/>
                </a:solidFill>
                <a:latin typeface="Cambria"/>
              </a:rPr>
              <a:t> you are. Nobody checks </a:t>
            </a:r>
            <a:r>
              <a:rPr sz="1800" b="1" i="0">
                <a:solidFill>
                  <a:srgbClr val="1E2761"/>
                </a:solidFill>
                <a:latin typeface="Cambria"/>
              </a:rPr>
              <a:t>what's happening</a:t>
            </a:r>
            <a:r>
              <a:rPr sz="1800" b="0" i="0">
                <a:solidFill>
                  <a:srgbClr val="1E2761"/>
                </a:solidFill>
                <a:latin typeface="Cambria"/>
              </a:rPr>
              <a:t>.</a:t>
            </a:r>
          </a:p>
        </p:txBody>
      </p:sp>
      <p:sp>
        <p:nvSpPr>
          <p:cNvPr id="15" name="Stakeholder and why"/>
          <p:cNvSpPr txBox="1"/>
          <p:nvPr/>
        </p:nvSpPr>
        <p:spPr>
          <a:xfrm>
            <a:off x="457200" y="4279392"/>
            <a:ext cx="6035040" cy="1554480"/>
          </a:xfrm>
          <a:prstGeom prst="rect">
            <a:avLst/>
          </a:prstGeom>
          <a:noFill/>
        </p:spPr>
        <p:txBody>
          <a:bodyPr wrap="square" lIns="0" rIns="0" tIns="0" bIns="0" anchor="t">
            <a:spAutoFit/>
          </a:bodyPr>
          <a:lstStyle/>
          <a:p>
            <a:pPr algn="l">
              <a:spcAft>
                <a:spcPts val="200"/>
              </a:spcAft>
            </a:pPr>
            <a:r>
              <a:rPr sz="1050" b="1" i="0">
                <a:solidFill>
                  <a:srgbClr val="1E2761"/>
                </a:solidFill>
                <a:latin typeface="Calibri"/>
              </a:rPr>
              <a:t>WHO IT'S FOR</a:t>
            </a:r>
          </a:p>
          <a:p>
            <a:pPr algn="l">
              <a:spcAft>
                <a:spcPts val="800"/>
              </a:spcAft>
            </a:pPr>
            <a:r>
              <a:rPr sz="1250" b="1" i="0">
                <a:solidFill>
                  <a:srgbClr val="222222"/>
                </a:solidFill>
                <a:latin typeface="Calibri"/>
              </a:rPr>
              <a:t>Banks, UPI apps and payment gateways</a:t>
            </a:r>
            <a:r>
              <a:rPr sz="1250" b="0" i="0">
                <a:solidFill>
                  <a:srgbClr val="222222"/>
                </a:solidFill>
                <a:latin typeface="Calibri"/>
              </a:rPr>
              <a:t>, who must answer well inside UPI's 15-second response limit, on behalf of everyday payers, especially seniors and first-time users.</a:t>
            </a:r>
          </a:p>
          <a:p>
            <a:pPr algn="l">
              <a:spcAft>
                <a:spcPts val="200"/>
              </a:spcAft>
            </a:pPr>
            <a:r>
              <a:rPr sz="1050" b="1" i="0">
                <a:solidFill>
                  <a:srgbClr val="1E2761"/>
                </a:solidFill>
                <a:latin typeface="Calibri"/>
              </a:rPr>
              <a:t>WHY IT'S WORTH SOLVING</a:t>
            </a:r>
          </a:p>
          <a:p>
            <a:pPr algn="l"/>
            <a:r>
              <a:rPr sz="1250" b="0" i="0">
                <a:solidFill>
                  <a:srgbClr val="222222"/>
                </a:solidFill>
                <a:latin typeface="Calibri"/>
              </a:rPr>
              <a:t>RBI's proposed fix is a 1-hour delay on every payment above ₹10,000. That slows every honest user too. A check that reads the situation can stop the scam and leave honest payments alone.</a:t>
            </a:r>
          </a:p>
        </p:txBody>
      </p:sp>
      <p:sp>
        <p:nvSpPr>
          <p:cNvPr id="16" name="Evidence label"/>
          <p:cNvSpPr txBox="1"/>
          <p:nvPr/>
        </p:nvSpPr>
        <p:spPr>
          <a:xfrm>
            <a:off x="6903720" y="2560320"/>
            <a:ext cx="4846320" cy="274320"/>
          </a:xfrm>
          <a:prstGeom prst="rect">
            <a:avLst/>
          </a:prstGeom>
          <a:noFill/>
        </p:spPr>
        <p:txBody>
          <a:bodyPr wrap="square" lIns="0" rIns="0" tIns="0" bIns="0" anchor="t">
            <a:spAutoFit/>
          </a:bodyPr>
          <a:lstStyle/>
          <a:p>
            <a:pPr algn="l"/>
            <a:r>
              <a:rPr sz="1050" b="1" i="0">
                <a:solidFill>
                  <a:srgbClr val="1E2761"/>
                </a:solidFill>
                <a:latin typeface="Calibri"/>
              </a:rPr>
              <a:t>EVIDENCE</a:t>
            </a:r>
          </a:p>
        </p:txBody>
      </p:sp>
      <p:sp>
        <p:nvSpPr>
          <p:cNvPr id="17" name="Stat 1 bar"/>
          <p:cNvSpPr/>
          <p:nvPr/>
        </p:nvSpPr>
        <p:spPr>
          <a:xfrm>
            <a:off x="6903720" y="2898648"/>
            <a:ext cx="45720" cy="82296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at 1"/>
          <p:cNvSpPr txBox="1"/>
          <p:nvPr/>
        </p:nvSpPr>
        <p:spPr>
          <a:xfrm>
            <a:off x="7086600" y="2852928"/>
            <a:ext cx="4663440" cy="914400"/>
          </a:xfrm>
          <a:prstGeom prst="rect">
            <a:avLst/>
          </a:prstGeom>
          <a:noFill/>
        </p:spPr>
        <p:txBody>
          <a:bodyPr wrap="square" lIns="0" rIns="0" tIns="0" bIns="0" anchor="t">
            <a:spAutoFit/>
          </a:bodyPr>
          <a:lstStyle/>
          <a:p>
            <a:pPr algn="l"/>
            <a:r>
              <a:rPr sz="2400" b="1" i="0">
                <a:solidFill>
                  <a:srgbClr val="1E2761"/>
                </a:solidFill>
                <a:latin typeface="Cambria"/>
              </a:rPr>
              <a:t>₹22,495 cr</a:t>
            </a:r>
          </a:p>
          <a:p>
            <a:pPr algn="l"/>
            <a:r>
              <a:rPr sz="1150" b="0" i="0">
                <a:solidFill>
                  <a:srgbClr val="222222"/>
                </a:solidFill>
                <a:latin typeface="Calibri"/>
              </a:rPr>
              <a:t>lost to cyber fraud in India in 2025 (MHA, NCRP data)</a:t>
            </a:r>
          </a:p>
        </p:txBody>
      </p:sp>
      <p:sp>
        <p:nvSpPr>
          <p:cNvPr id="19" name="Stat 2 bar"/>
          <p:cNvSpPr/>
          <p:nvPr/>
        </p:nvSpPr>
        <p:spPr>
          <a:xfrm>
            <a:off x="6903720" y="3886200"/>
            <a:ext cx="45720" cy="82296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at 2"/>
          <p:cNvSpPr txBox="1"/>
          <p:nvPr/>
        </p:nvSpPr>
        <p:spPr>
          <a:xfrm>
            <a:off x="7086600" y="3840480"/>
            <a:ext cx="4663440" cy="914400"/>
          </a:xfrm>
          <a:prstGeom prst="rect">
            <a:avLst/>
          </a:prstGeom>
          <a:noFill/>
        </p:spPr>
        <p:txBody>
          <a:bodyPr wrap="square" lIns="0" rIns="0" tIns="0" bIns="0" anchor="t">
            <a:spAutoFit/>
          </a:bodyPr>
          <a:lstStyle/>
          <a:p>
            <a:pPr algn="l"/>
            <a:r>
              <a:rPr sz="2400" b="1" i="0">
                <a:solidFill>
                  <a:srgbClr val="1E2761"/>
                </a:solidFill>
                <a:latin typeface="Cambria"/>
              </a:rPr>
              <a:t>85%</a:t>
            </a:r>
          </a:p>
          <a:p>
            <a:pPr algn="l"/>
            <a:r>
              <a:rPr sz="1150" b="0" i="0">
                <a:solidFill>
                  <a:srgbClr val="222222"/>
                </a:solidFill>
                <a:latin typeface="Calibri"/>
              </a:rPr>
              <a:t>of that came from investment (76%) and “digital arrest” (9%) scams, where victims send the money themselves (MHA)</a:t>
            </a:r>
          </a:p>
        </p:txBody>
      </p:sp>
      <p:sp>
        <p:nvSpPr>
          <p:cNvPr id="21" name="Stat 3 bar"/>
          <p:cNvSpPr/>
          <p:nvPr/>
        </p:nvSpPr>
        <p:spPr>
          <a:xfrm>
            <a:off x="6903720" y="4873752"/>
            <a:ext cx="45720" cy="82296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tat 3"/>
          <p:cNvSpPr txBox="1"/>
          <p:nvPr/>
        </p:nvSpPr>
        <p:spPr>
          <a:xfrm>
            <a:off x="7086600" y="4828032"/>
            <a:ext cx="4663440" cy="914400"/>
          </a:xfrm>
          <a:prstGeom prst="rect">
            <a:avLst/>
          </a:prstGeom>
          <a:noFill/>
        </p:spPr>
        <p:txBody>
          <a:bodyPr wrap="square" lIns="0" rIns="0" tIns="0" bIns="0" anchor="t">
            <a:spAutoFit/>
          </a:bodyPr>
          <a:lstStyle/>
          <a:p>
            <a:pPr algn="l"/>
            <a:r>
              <a:rPr sz="2400" b="1" i="0">
                <a:solidFill>
                  <a:srgbClr val="1E2761"/>
                </a:solidFill>
                <a:latin typeface="Cambria"/>
              </a:rPr>
              <a:t>98.5%</a:t>
            </a:r>
          </a:p>
          <a:p>
            <a:pPr algn="l"/>
            <a:r>
              <a:rPr sz="1150" b="0" i="0">
                <a:solidFill>
                  <a:srgbClr val="222222"/>
                </a:solidFill>
                <a:latin typeface="Calibri"/>
              </a:rPr>
              <a:t>of fraud value is in payments above ₹10,000; account-takeover fraud is “now negligible” (RBI, 9 Apr 2026)</a:t>
            </a:r>
          </a:p>
        </p:txBody>
      </p:sp>
      <p:sp>
        <p:nvSpPr>
          <p:cNvPr id="23" name="SDG 1"/>
          <p:cNvSpPr/>
          <p:nvPr/>
        </p:nvSpPr>
        <p:spPr>
          <a:xfrm>
            <a:off x="457200" y="5943600"/>
            <a:ext cx="3657600" cy="512064"/>
          </a:xfrm>
          <a:prstGeom prst="roundRect">
            <a:avLst>
              <a:gd name="adj" fmla="val 3000"/>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000" b="1" i="0">
                <a:solidFill>
                  <a:srgbClr val="FFFFFF"/>
                </a:solidFill>
                <a:latin typeface="Calibri"/>
              </a:rPr>
              <a:t>PRIMARY · SDG 16</a:t>
            </a:r>
          </a:p>
          <a:p>
            <a:pPr algn="l"/>
            <a:r>
              <a:rPr sz="1000" b="0" i="0">
                <a:solidFill>
                  <a:srgbClr val="FFFFFF"/>
                </a:solidFill>
                <a:latin typeface="Calibri"/>
              </a:rPr>
              <a:t>16.4: cut illicit financial flows &amp; organised crime</a:t>
            </a:r>
          </a:p>
        </p:txBody>
      </p:sp>
      <p:sp>
        <p:nvSpPr>
          <p:cNvPr id="24" name="SDG 2"/>
          <p:cNvSpPr/>
          <p:nvPr/>
        </p:nvSpPr>
        <p:spPr>
          <a:xfrm>
            <a:off x="4274820" y="5943600"/>
            <a:ext cx="3657600" cy="512064"/>
          </a:xfrm>
          <a:prstGeom prst="roundRect">
            <a:avLst>
              <a:gd name="adj" fmla="val 3000"/>
            </a:avLst>
          </a:prstGeom>
          <a:solidFill>
            <a:srgbClr val="A219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000" b="1" i="0">
                <a:solidFill>
                  <a:srgbClr val="FFFFFF"/>
                </a:solidFill>
                <a:latin typeface="Calibri"/>
              </a:rPr>
              <a:t>SUPPORTING · SDG 8</a:t>
            </a:r>
          </a:p>
          <a:p>
            <a:pPr algn="l"/>
            <a:r>
              <a:rPr sz="1000" b="0" i="0">
                <a:solidFill>
                  <a:srgbClr val="FFFFFF"/>
                </a:solidFill>
                <a:latin typeface="Calibri"/>
              </a:rPr>
              <a:t>8.10: access to financial services for all</a:t>
            </a:r>
          </a:p>
        </p:txBody>
      </p:sp>
      <p:sp>
        <p:nvSpPr>
          <p:cNvPr id="25" name="SDG 3"/>
          <p:cNvSpPr/>
          <p:nvPr/>
        </p:nvSpPr>
        <p:spPr>
          <a:xfrm>
            <a:off x="8092440" y="5943600"/>
            <a:ext cx="3657600" cy="512064"/>
          </a:xfrm>
          <a:prstGeom prst="roundRect">
            <a:avLst>
              <a:gd name="adj" fmla="val 3000"/>
            </a:avLst>
          </a:prstGeom>
          <a:solidFill>
            <a:srgbClr val="DD5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000" b="1" i="0">
                <a:solidFill>
                  <a:srgbClr val="FFFFFF"/>
                </a:solidFill>
                <a:latin typeface="Calibri"/>
              </a:rPr>
              <a:t>SUPPORTING · SDG 9</a:t>
            </a:r>
          </a:p>
          <a:p>
            <a:pPr algn="l"/>
            <a:r>
              <a:rPr sz="1000" b="0" i="0">
                <a:solidFill>
                  <a:srgbClr val="FFFFFF"/>
                </a:solidFill>
                <a:latin typeface="Calibri"/>
              </a:rPr>
              <a:t>9.1: reliable, resilient (digital) infrastructure</a:t>
            </a:r>
          </a:p>
        </p:txBody>
      </p:sp>
      <p:sp>
        <p:nvSpPr>
          <p:cNvPr id="26" name="Sources"/>
          <p:cNvSpPr txBox="1"/>
          <p:nvPr/>
        </p:nvSpPr>
        <p:spPr>
          <a:xfrm>
            <a:off x="457200" y="6510528"/>
            <a:ext cx="11292840" cy="274320"/>
          </a:xfrm>
          <a:prstGeom prst="rect">
            <a:avLst/>
          </a:prstGeom>
          <a:noFill/>
        </p:spPr>
        <p:txBody>
          <a:bodyPr wrap="square" lIns="0" rIns="0" tIns="0" bIns="0" anchor="t">
            <a:spAutoFit/>
          </a:bodyPr>
          <a:lstStyle/>
          <a:p>
            <a:pPr algn="just"/>
            <a:r>
              <a:rPr sz="900" b="0" i="1">
                <a:solidFill>
                  <a:srgbClr val="5A6275"/>
                </a:solidFill>
                <a:latin typeface="Calibri"/>
              </a:rPr>
              <a:t>Sources: MHA/NCRP via ThePrint (2025 losses by scam type); RBI Discussion Paper “Exploring safeguards in digital payments to curb frauds”, 9 Apr 2026. Links: github.com/bhavyammisra/BIOS-Transaction-Authentication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Today's defences check the credential or the receiver, never the moment</a:t>
            </a:r>
            <a:endParaRPr lang="en-US" sz="2000" dirty="0"/>
          </a:p>
        </p:txBody>
      </p:sp>
      <p:sp>
        <p:nvSpPr>
          <p:cNvPr id="13" name="Text 1">
            <a:extLst>
              <a:ext uri="{FF2B5EF4-FFF2-40B4-BE49-F238E27FC236}">
                <a16:creationId xmlns:a16="http://schemas.microsoft.com/office/drawing/2014/main" id="{99D536E1-DBFD-B790-6092-C55BAED3C2B5}"/>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2 OF 5</a:t>
            </a:r>
            <a:endParaRPr lang="en-US" sz="1200" dirty="0"/>
          </a:p>
        </p:txBody>
      </p:sp>
      <p:sp>
        <p:nvSpPr>
          <p:cNvPr id="15" name="Text 2">
            <a:extLst>
              <a:ext uri="{FF2B5EF4-FFF2-40B4-BE49-F238E27FC236}">
                <a16:creationId xmlns:a16="http://schemas.microsoft.com/office/drawing/2014/main" id="{D559D67C-E338-52FF-A042-EDCC455427F5}"/>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Existing Approaches &amp; Gap</a:t>
            </a:r>
            <a:endParaRPr lang="en-US" sz="2800" dirty="0"/>
          </a:p>
        </p:txBody>
      </p:sp>
      <p:sp>
        <p:nvSpPr>
          <p:cNvPr id="16" name="Approach 1 rule"/>
          <p:cNvSpPr/>
          <p:nvPr/>
        </p:nvSpPr>
        <p:spPr>
          <a:xfrm>
            <a:off x="457200" y="2578608"/>
            <a:ext cx="3630168" cy="3657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pproach 1"/>
          <p:cNvSpPr txBox="1"/>
          <p:nvPr/>
        </p:nvSpPr>
        <p:spPr>
          <a:xfrm>
            <a:off x="457200" y="2697480"/>
            <a:ext cx="3630168" cy="2697480"/>
          </a:xfrm>
          <a:prstGeom prst="rect">
            <a:avLst/>
          </a:prstGeom>
          <a:noFill/>
        </p:spPr>
        <p:txBody>
          <a:bodyPr wrap="square" lIns="0" rIns="0" tIns="0" bIns="0" anchor="t">
            <a:spAutoFit/>
          </a:bodyPr>
          <a:lstStyle/>
          <a:p>
            <a:pPr algn="l"/>
            <a:r>
              <a:rPr sz="1500" b="1" i="0">
                <a:solidFill>
                  <a:srgbClr val="1E2761"/>
                </a:solidFill>
                <a:latin typeface="Cambria"/>
              </a:rPr>
              <a:t>1. Static two-factor auth</a:t>
            </a:r>
          </a:p>
          <a:p>
            <a:pPr algn="l">
              <a:spcAft>
                <a:spcPts val="800"/>
              </a:spcAft>
            </a:pPr>
            <a:r>
              <a:rPr sz="1050" b="0" i="1">
                <a:solidFill>
                  <a:srgbClr val="5A6275"/>
                </a:solidFill>
                <a:latin typeface="Calibri"/>
              </a:rPr>
              <a:t>UPI PIN · SMS OTP · 3-D Secure</a:t>
            </a:r>
          </a:p>
          <a:p>
            <a:pPr algn="l">
              <a:spcAft>
                <a:spcPts val="100"/>
              </a:spcAft>
            </a:pPr>
            <a:r>
              <a:rPr sz="1050" b="1" i="0">
                <a:solidFill>
                  <a:srgbClr val="1E2761"/>
                </a:solidFill>
                <a:latin typeface="Calibri"/>
              </a:rPr>
              <a:t>What it does</a:t>
            </a:r>
          </a:p>
          <a:p>
            <a:pPr algn="l">
              <a:spcAft>
                <a:spcPts val="1000"/>
              </a:spcAft>
            </a:pPr>
            <a:r>
              <a:rPr sz="1300" b="0" i="0">
                <a:solidFill>
                  <a:srgbClr val="222222"/>
                </a:solidFill>
                <a:latin typeface="Calibri"/>
              </a:rPr>
              <a:t>Device binding plus a PIN or OTP on every payment. RBI keeps 2FA as the minimum from April 2026.</a:t>
            </a:r>
          </a:p>
          <a:p>
            <a:pPr algn="l">
              <a:spcAft>
                <a:spcPts val="100"/>
              </a:spcAft>
            </a:pPr>
            <a:r>
              <a:rPr sz="1050" b="1" i="0">
                <a:solidFill>
                  <a:srgbClr val="C62828"/>
                </a:solidFill>
                <a:latin typeface="Calibri"/>
              </a:rPr>
              <a:t>What's still missing</a:t>
            </a:r>
          </a:p>
          <a:p>
            <a:pPr algn="l"/>
            <a:r>
              <a:rPr sz="1300" b="0" i="0">
                <a:solidFill>
                  <a:srgbClr val="222222"/>
                </a:solidFill>
                <a:latin typeface="Calibri"/>
              </a:rPr>
              <a:t>Checks the credential, not the context. A coached victim types it in; a SIM swap steals it. A ₹50 tea and a ₹2 lakh transfer get the same check.</a:t>
            </a:r>
          </a:p>
        </p:txBody>
      </p:sp>
      <p:sp>
        <p:nvSpPr>
          <p:cNvPr id="18" name="Approach 2 rule"/>
          <p:cNvSpPr/>
          <p:nvPr/>
        </p:nvSpPr>
        <p:spPr>
          <a:xfrm>
            <a:off x="4288536" y="2578608"/>
            <a:ext cx="3630168" cy="3657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pproach 2"/>
          <p:cNvSpPr txBox="1"/>
          <p:nvPr/>
        </p:nvSpPr>
        <p:spPr>
          <a:xfrm>
            <a:off x="4288536" y="2697480"/>
            <a:ext cx="3630168" cy="2697480"/>
          </a:xfrm>
          <a:prstGeom prst="rect">
            <a:avLst/>
          </a:prstGeom>
          <a:noFill/>
        </p:spPr>
        <p:txBody>
          <a:bodyPr wrap="square" lIns="0" rIns="0" tIns="0" bIns="0" anchor="t">
            <a:spAutoFit/>
          </a:bodyPr>
          <a:lstStyle/>
          <a:p>
            <a:pPr algn="l"/>
            <a:r>
              <a:rPr sz="1500" b="1" i="0">
                <a:solidFill>
                  <a:srgbClr val="1E2761"/>
                </a:solidFill>
                <a:latin typeface="Cambria"/>
              </a:rPr>
              <a:t>2. Commercial risk engines</a:t>
            </a:r>
          </a:p>
          <a:p>
            <a:pPr algn="l">
              <a:spcAft>
                <a:spcPts val="800"/>
              </a:spcAft>
            </a:pPr>
            <a:r>
              <a:rPr sz="1050" b="0" i="1">
                <a:solidFill>
                  <a:srgbClr val="5A6275"/>
                </a:solidFill>
                <a:latin typeface="Calibri"/>
              </a:rPr>
              <a:t>Stripe Radar · Sift · BioCatch</a:t>
            </a:r>
          </a:p>
          <a:p>
            <a:pPr algn="l">
              <a:spcAft>
                <a:spcPts val="100"/>
              </a:spcAft>
            </a:pPr>
            <a:r>
              <a:rPr sz="1050" b="1" i="0">
                <a:solidFill>
                  <a:srgbClr val="1E2761"/>
                </a:solidFill>
                <a:latin typeface="Calibri"/>
              </a:rPr>
              <a:t>What it does</a:t>
            </a:r>
          </a:p>
          <a:p>
            <a:pPr algn="l">
              <a:spcAft>
                <a:spcPts val="1000"/>
              </a:spcAft>
            </a:pPr>
            <a:r>
              <a:rPr sz="1300" b="0" i="0">
                <a:solidFill>
                  <a:srgbClr val="222222"/>
                </a:solidFill>
                <a:latin typeface="Calibri"/>
              </a:rPr>
              <a:t>Machine-learning scores over hundreds of signals; the merchant or bank sets block, review or step-up rules.</a:t>
            </a:r>
          </a:p>
          <a:p>
            <a:pPr algn="l">
              <a:spcAft>
                <a:spcPts val="100"/>
              </a:spcAft>
            </a:pPr>
            <a:r>
              <a:rPr sz="1050" b="1" i="0">
                <a:solidFill>
                  <a:srgbClr val="C62828"/>
                </a:solidFill>
                <a:latin typeface="Calibri"/>
              </a:rPr>
              <a:t>What's still missing</a:t>
            </a:r>
          </a:p>
          <a:p>
            <a:pPr algn="l"/>
            <a:r>
              <a:rPr sz="1300" b="0" i="0">
                <a:solidFill>
                  <a:srgbClr val="222222"/>
                </a:solidFill>
                <a:latin typeface="Calibri"/>
              </a:rPr>
              <a:t>Closed, inside one provider's network. The output is a score for an analyst, not a reason for the customer. A high score triggers the same OTP or 3DS whatever the kind of risk.</a:t>
            </a:r>
          </a:p>
        </p:txBody>
      </p:sp>
      <p:sp>
        <p:nvSpPr>
          <p:cNvPr id="20" name="Approach 3 rule"/>
          <p:cNvSpPr/>
          <p:nvPr/>
        </p:nvSpPr>
        <p:spPr>
          <a:xfrm>
            <a:off x="8119872" y="2578608"/>
            <a:ext cx="3630168" cy="3657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pproach 3"/>
          <p:cNvSpPr txBox="1"/>
          <p:nvPr/>
        </p:nvSpPr>
        <p:spPr>
          <a:xfrm>
            <a:off x="8119872" y="2697480"/>
            <a:ext cx="3630168" cy="2697480"/>
          </a:xfrm>
          <a:prstGeom prst="rect">
            <a:avLst/>
          </a:prstGeom>
          <a:noFill/>
        </p:spPr>
        <p:txBody>
          <a:bodyPr wrap="square" lIns="0" rIns="0" tIns="0" bIns="0" anchor="t">
            <a:spAutoFit/>
          </a:bodyPr>
          <a:lstStyle/>
          <a:p>
            <a:pPr algn="l"/>
            <a:r>
              <a:rPr sz="1500" b="1" i="0">
                <a:solidFill>
                  <a:srgbClr val="1E2761"/>
                </a:solidFill>
                <a:latin typeface="Cambria"/>
              </a:rPr>
              <a:t>3. India's shared intelligence</a:t>
            </a:r>
          </a:p>
          <a:p>
            <a:pPr algn="l">
              <a:spcAft>
                <a:spcPts val="800"/>
              </a:spcAft>
            </a:pPr>
            <a:r>
              <a:rPr sz="1050" b="0" i="1">
                <a:solidFill>
                  <a:srgbClr val="5A6275"/>
                </a:solidFill>
                <a:latin typeface="Calibri"/>
              </a:rPr>
              <a:t>NPCI FRM · DoT FRI · RBI MuleHunter.AI</a:t>
            </a:r>
          </a:p>
          <a:p>
            <a:pPr algn="l">
              <a:spcAft>
                <a:spcPts val="100"/>
              </a:spcAft>
            </a:pPr>
            <a:r>
              <a:rPr sz="1050" b="1" i="0">
                <a:solidFill>
                  <a:srgbClr val="1E2761"/>
                </a:solidFill>
                <a:latin typeface="Calibri"/>
              </a:rPr>
              <a:t>What it does</a:t>
            </a:r>
          </a:p>
          <a:p>
            <a:pPr algn="l">
              <a:spcAft>
                <a:spcPts val="1000"/>
              </a:spcAft>
            </a:pPr>
            <a:r>
              <a:rPr sz="1300" b="0" i="0">
                <a:solidFill>
                  <a:srgbClr val="222222"/>
                </a:solidFill>
                <a:latin typeface="Calibri"/>
              </a:rPr>
              <a:t>Flags risky phone numbers and mule accounts across banks and UPI apps.</a:t>
            </a:r>
          </a:p>
          <a:p>
            <a:pPr algn="l">
              <a:spcAft>
                <a:spcPts val="100"/>
              </a:spcAft>
            </a:pPr>
            <a:r>
              <a:rPr sz="1050" b="1" i="0">
                <a:solidFill>
                  <a:srgbClr val="C62828"/>
                </a:solidFill>
                <a:latin typeface="Calibri"/>
              </a:rPr>
              <a:t>What's still missing</a:t>
            </a:r>
          </a:p>
          <a:p>
            <a:pPr algn="l"/>
            <a:r>
              <a:rPr sz="1300" b="0" i="0">
                <a:solidFill>
                  <a:srgbClr val="222222"/>
                </a:solidFill>
                <a:latin typeface="Calibri"/>
              </a:rPr>
              <a:t>Works after the fact: a number must be reported first, and scam numbers live for days. It scores the receiver, not what is happening in this session.</a:t>
            </a:r>
          </a:p>
        </p:txBody>
      </p:sp>
      <p:sp>
        <p:nvSpPr>
          <p:cNvPr id="22" name="Gap statement"/>
          <p:cNvSpPr/>
          <p:nvPr/>
        </p:nvSpPr>
        <p:spPr>
          <a:xfrm>
            <a:off x="457200" y="5486400"/>
            <a:ext cx="11292840" cy="896112"/>
          </a:xfrm>
          <a:prstGeom prst="roundRect">
            <a:avLst>
              <a:gd name="adj" fmla="val 3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5" bIns="128015"/>
          <a:lstStyle/>
          <a:p>
            <a:pPr algn="l"/>
            <a:r>
              <a:rPr sz="1400" b="1" i="0">
                <a:solidFill>
                  <a:srgbClr val="CADCFC"/>
                </a:solidFill>
                <a:latin typeface="Cambria"/>
              </a:rPr>
              <a:t>The gap we are addressing is: </a:t>
            </a:r>
            <a:r>
              <a:rPr sz="1300" b="0" i="0">
                <a:solidFill>
                  <a:srgbClr val="FFFFFF"/>
                </a:solidFill>
                <a:latin typeface="Calibri"/>
              </a:rPr>
              <a:t>no lightweight, real-time service combines behaviour, device and transaction context into an explained allow / challenge / block decision, and picks the kind of challenge that actually stops the risk in front of it.</a:t>
            </a:r>
          </a:p>
        </p:txBody>
      </p:sp>
      <p:sp>
        <p:nvSpPr>
          <p:cNvPr id="23" name="Sources"/>
          <p:cNvSpPr txBox="1"/>
          <p:nvPr/>
        </p:nvSpPr>
        <p:spPr>
          <a:xfrm>
            <a:off x="457200" y="6510528"/>
            <a:ext cx="11292840" cy="274320"/>
          </a:xfrm>
          <a:prstGeom prst="rect">
            <a:avLst/>
          </a:prstGeom>
          <a:noFill/>
        </p:spPr>
        <p:txBody>
          <a:bodyPr wrap="square" lIns="0" rIns="0" tIns="0" bIns="0" anchor="t">
            <a:spAutoFit/>
          </a:bodyPr>
          <a:lstStyle/>
          <a:p>
            <a:pPr algn="just"/>
            <a:r>
              <a:rPr sz="900" b="0" i="1">
                <a:solidFill>
                  <a:srgbClr val="5A6275"/>
                </a:solidFill>
                <a:latin typeface="Calibri"/>
              </a:rPr>
              <a:t>Sources: RBI Authentication Directions (25 Sep 2025) &amp; Discussion Paper (9 Apr 2026); Stripe Radar risk-evaluation docs; Sift; BioCatch; NPCI FRM; DoT FRI (May 2025). Full links: repo › docs/02-research/prior-art.md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Pramaan: a PIN checks who you are. We check what's happening, before every payment.</a:t>
            </a:r>
            <a:endParaRPr lang="en-US" sz="2000" dirty="0"/>
          </a:p>
        </p:txBody>
      </p:sp>
      <p:sp>
        <p:nvSpPr>
          <p:cNvPr id="13" name="Text 1">
            <a:extLst>
              <a:ext uri="{FF2B5EF4-FFF2-40B4-BE49-F238E27FC236}">
                <a16:creationId xmlns:a16="http://schemas.microsoft.com/office/drawing/2014/main" id="{80560093-520F-F5AF-E515-D345B911F19E}"/>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3 OF 5</a:t>
            </a:r>
            <a:endParaRPr lang="en-US" sz="1200" dirty="0"/>
          </a:p>
        </p:txBody>
      </p:sp>
      <p:sp>
        <p:nvSpPr>
          <p:cNvPr id="15" name="Text 2">
            <a:extLst>
              <a:ext uri="{FF2B5EF4-FFF2-40B4-BE49-F238E27FC236}">
                <a16:creationId xmlns:a16="http://schemas.microsoft.com/office/drawing/2014/main" id="{E4DA8332-A739-9AE8-00E2-0E55CEF5D70C}"/>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Proposed Solution</a:t>
            </a:r>
            <a:endParaRPr lang="en-US" sz="2800" dirty="0"/>
          </a:p>
        </p:txBody>
      </p:sp>
      <p:sp>
        <p:nvSpPr>
          <p:cNvPr id="16" name="Solution"/>
          <p:cNvSpPr txBox="1"/>
          <p:nvPr/>
        </p:nvSpPr>
        <p:spPr>
          <a:xfrm>
            <a:off x="457200" y="2560320"/>
            <a:ext cx="5349240" cy="2743200"/>
          </a:xfrm>
          <a:prstGeom prst="rect">
            <a:avLst/>
          </a:prstGeom>
          <a:noFill/>
        </p:spPr>
        <p:txBody>
          <a:bodyPr wrap="square" lIns="0" rIns="0" tIns="0" bIns="0" anchor="t">
            <a:spAutoFit/>
          </a:bodyPr>
          <a:lstStyle/>
          <a:p>
            <a:pPr algn="l">
              <a:spcAft>
                <a:spcPts val="200"/>
              </a:spcAft>
            </a:pPr>
            <a:r>
              <a:rPr sz="1050" b="1" i="0">
                <a:solidFill>
                  <a:srgbClr val="1E2761"/>
                </a:solidFill>
                <a:latin typeface="Calibri"/>
              </a:rPr>
              <a:t>WHAT WE BUILD</a:t>
            </a:r>
          </a:p>
          <a:p>
            <a:pPr algn="l">
              <a:spcAft>
                <a:spcPts val="1000"/>
              </a:spcAft>
            </a:pPr>
            <a:r>
              <a:rPr sz="1300" b="0" i="0">
                <a:solidFill>
                  <a:srgbClr val="222222"/>
                </a:solidFill>
                <a:latin typeface="Calibri"/>
              </a:rPr>
              <a:t>A cloud risk API that a bank or UPI app calls </a:t>
            </a:r>
            <a:r>
              <a:rPr sz="1300" b="1" i="0">
                <a:solidFill>
                  <a:srgbClr val="222222"/>
                </a:solidFill>
                <a:latin typeface="Calibri"/>
              </a:rPr>
              <a:t>before</a:t>
            </a:r>
            <a:r>
              <a:rPr sz="1300" b="0" i="0">
                <a:solidFill>
                  <a:srgbClr val="222222"/>
                </a:solidFill>
                <a:latin typeface="Calibri"/>
              </a:rPr>
              <a:t> the PIN step. It returns allow, challenge or block in milliseconds, with reasons in plain language. It sits on top of mandated 2FA and never replaces it.</a:t>
            </a:r>
          </a:p>
          <a:p>
            <a:pPr algn="l">
              <a:spcAft>
                <a:spcPts val="200"/>
              </a:spcAft>
            </a:pPr>
            <a:r>
              <a:rPr sz="1050" b="1" i="0">
                <a:solidFill>
                  <a:srgbClr val="1E2761"/>
                </a:solidFill>
                <a:latin typeface="Calibri"/>
              </a:rPr>
              <a:t>WHAT'S DIFFERENT</a:t>
            </a:r>
          </a:p>
          <a:p>
            <a:pPr algn="l">
              <a:spcAft>
                <a:spcPts val="400"/>
              </a:spcAft>
            </a:pPr>
            <a:r>
              <a:rPr sz="1250" b="1" i="0">
                <a:solidFill>
                  <a:srgbClr val="1E2761"/>
                </a:solidFill>
                <a:latin typeface="Calibri"/>
              </a:rPr>
              <a:t>1  </a:t>
            </a:r>
            <a:r>
              <a:rPr sz="1250" b="0" i="0">
                <a:solidFill>
                  <a:srgbClr val="222222"/>
                </a:solidFill>
                <a:latin typeface="Calibri"/>
              </a:rPr>
              <a:t>Each payment is compared with </a:t>
            </a:r>
            <a:r>
              <a:rPr sz="1250" b="1" i="0">
                <a:solidFill>
                  <a:srgbClr val="222222"/>
                </a:solidFill>
                <a:latin typeface="Calibri"/>
              </a:rPr>
              <a:t>this user's own</a:t>
            </a:r>
            <a:r>
              <a:rPr sz="1250" b="0" i="0">
                <a:solidFill>
                  <a:srgbClr val="222222"/>
                </a:solidFill>
                <a:latin typeface="Calibri"/>
              </a:rPr>
              <a:t> history, not a global average.</a:t>
            </a:r>
          </a:p>
          <a:p>
            <a:pPr algn="l">
              <a:spcAft>
                <a:spcPts val="400"/>
              </a:spcAft>
            </a:pPr>
            <a:r>
              <a:rPr sz="1250" b="1" i="0">
                <a:solidFill>
                  <a:srgbClr val="1E2761"/>
                </a:solidFill>
                <a:latin typeface="Calibri"/>
              </a:rPr>
              <a:t>2  </a:t>
            </a:r>
            <a:r>
              <a:rPr sz="1250" b="0" i="0">
                <a:solidFill>
                  <a:srgbClr val="222222"/>
                </a:solidFill>
                <a:latin typeface="Calibri"/>
              </a:rPr>
              <a:t>Amount-aware: small payments are almost never interrupted; a large first-time transfer is checked closely.</a:t>
            </a:r>
          </a:p>
          <a:p>
            <a:pPr algn="l"/>
            <a:r>
              <a:rPr sz="1250" b="1" i="0">
                <a:solidFill>
                  <a:srgbClr val="1E2761"/>
                </a:solidFill>
                <a:latin typeface="Calibri"/>
              </a:rPr>
              <a:t>3  </a:t>
            </a:r>
            <a:r>
              <a:rPr sz="1250" b="0" i="0">
                <a:solidFill>
                  <a:srgbClr val="222222"/>
                </a:solidFill>
                <a:latin typeface="Calibri"/>
              </a:rPr>
              <a:t>The challenge fits the risk. A passkey on the owner's registered phone stops an impostor. Only a pause and a second person stop a coached victim.</a:t>
            </a:r>
          </a:p>
        </p:txBody>
      </p:sp>
      <p:sp>
        <p:nvSpPr>
          <p:cNvPr id="17" name="Asha label"/>
          <p:cNvSpPr txBox="1"/>
          <p:nvPr/>
        </p:nvSpPr>
        <p:spPr>
          <a:xfrm>
            <a:off x="457200" y="5138928"/>
            <a:ext cx="5349240" cy="274320"/>
          </a:xfrm>
          <a:prstGeom prst="rect">
            <a:avLst/>
          </a:prstGeom>
          <a:noFill/>
        </p:spPr>
        <p:txBody>
          <a:bodyPr wrap="square" lIns="0" rIns="0" tIns="0" bIns="0" anchor="t">
            <a:spAutoFit/>
          </a:bodyPr>
          <a:lstStyle/>
          <a:p>
            <a:pPr algn="l"/>
            <a:r>
              <a:rPr sz="1050" b="1" i="0">
                <a:solidFill>
                  <a:srgbClr val="1E2761"/>
                </a:solidFill>
                <a:latin typeface="Calibri"/>
              </a:rPr>
              <a:t>WHAT ASHA SEES IN SITUATION 3</a:t>
            </a:r>
          </a:p>
        </p:txBody>
      </p:sp>
      <p:sp>
        <p:nvSpPr>
          <p:cNvPr id="18" name="Quote bar"/>
          <p:cNvSpPr/>
          <p:nvPr/>
        </p:nvSpPr>
        <p:spPr>
          <a:xfrm>
            <a:off x="457200" y="5458968"/>
            <a:ext cx="45720" cy="713232"/>
          </a:xfrm>
          <a:prstGeom prst="rect">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Quote"/>
          <p:cNvSpPr txBox="1"/>
          <p:nvPr/>
        </p:nvSpPr>
        <p:spPr>
          <a:xfrm>
            <a:off x="640080" y="5440680"/>
            <a:ext cx="5166360" cy="1024128"/>
          </a:xfrm>
          <a:prstGeom prst="rect">
            <a:avLst/>
          </a:prstGeom>
          <a:noFill/>
        </p:spPr>
        <p:txBody>
          <a:bodyPr wrap="square" lIns="0" rIns="0" tIns="0" bIns="0" anchor="t">
            <a:spAutoFit/>
          </a:bodyPr>
          <a:lstStyle/>
          <a:p>
            <a:pPr algn="l">
              <a:spcAft>
                <a:spcPts val="300"/>
              </a:spcAft>
            </a:pPr>
            <a:r>
              <a:rPr sz="1200" b="0" i="1">
                <a:solidFill>
                  <a:srgbClr val="222222"/>
                </a:solidFill>
                <a:latin typeface="Calibri"/>
              </a:rPr>
              <a:t>“Police, CBI or RBI never ask you to move money over a call. We've paused this payment for 30 minutes and asked Rohan to confirm. You can cancel anytime.”</a:t>
            </a:r>
          </a:p>
          <a:p>
            <a:pPr algn="l"/>
            <a:r>
              <a:rPr sz="1050" b="0" i="0">
                <a:solidFill>
                  <a:srgbClr val="5A6275"/>
                </a:solidFill>
                <a:latin typeface="Calibri"/>
              </a:rPr>
              <a:t>Rohan, her son, gets Approve / Cancel on Telegram. The payment goes only if he approves; no reply in 30 minutes cancels it.</a:t>
            </a:r>
          </a:p>
        </p:txBody>
      </p:sp>
      <p:sp>
        <p:nvSpPr>
          <p:cNvPr id="20" name="Scen label"/>
          <p:cNvSpPr txBox="1"/>
          <p:nvPr/>
        </p:nvSpPr>
        <p:spPr>
          <a:xfrm>
            <a:off x="6080760" y="2560320"/>
            <a:ext cx="5669280" cy="274320"/>
          </a:xfrm>
          <a:prstGeom prst="rect">
            <a:avLst/>
          </a:prstGeom>
          <a:noFill/>
        </p:spPr>
        <p:txBody>
          <a:bodyPr wrap="square" lIns="0" rIns="0" tIns="0" bIns="0" anchor="t">
            <a:spAutoFit/>
          </a:bodyPr>
          <a:lstStyle/>
          <a:p>
            <a:pPr algn="l"/>
            <a:r>
              <a:rPr sz="1050" b="1" i="0">
                <a:solidFill>
                  <a:srgbClr val="1E2761"/>
                </a:solidFill>
                <a:latin typeface="Calibri"/>
              </a:rPr>
              <a:t>THE SAME ₹85,000 PAYMENT, FOUR SITUATIONS</a:t>
            </a:r>
          </a:p>
        </p:txBody>
      </p:sp>
      <p:sp>
        <p:nvSpPr>
          <p:cNvPr id="21" name="Head WHAT WE SEE"/>
          <p:cNvSpPr txBox="1"/>
          <p:nvPr/>
        </p:nvSpPr>
        <p:spPr>
          <a:xfrm>
            <a:off x="6080760" y="2852928"/>
            <a:ext cx="2697480" cy="228600"/>
          </a:xfrm>
          <a:prstGeom prst="rect">
            <a:avLst/>
          </a:prstGeom>
          <a:noFill/>
        </p:spPr>
        <p:txBody>
          <a:bodyPr wrap="square" lIns="0" rIns="0" tIns="0" bIns="0" anchor="t">
            <a:spAutoFit/>
          </a:bodyPr>
          <a:lstStyle/>
          <a:p>
            <a:pPr algn="l"/>
            <a:r>
              <a:rPr sz="950" b="1" i="0">
                <a:solidFill>
                  <a:srgbClr val="5A6275"/>
                </a:solidFill>
                <a:latin typeface="Calibri"/>
              </a:rPr>
              <a:t>WHAT WE SEE</a:t>
            </a:r>
          </a:p>
        </p:txBody>
      </p:sp>
      <p:sp>
        <p:nvSpPr>
          <p:cNvPr id="22" name="Head LIKELY RISK"/>
          <p:cNvSpPr txBox="1"/>
          <p:nvPr/>
        </p:nvSpPr>
        <p:spPr>
          <a:xfrm>
            <a:off x="8869680" y="2852928"/>
            <a:ext cx="1097280" cy="228600"/>
          </a:xfrm>
          <a:prstGeom prst="rect">
            <a:avLst/>
          </a:prstGeom>
          <a:noFill/>
        </p:spPr>
        <p:txBody>
          <a:bodyPr wrap="square" lIns="0" rIns="0" tIns="0" bIns="0" anchor="t">
            <a:spAutoFit/>
          </a:bodyPr>
          <a:lstStyle/>
          <a:p>
            <a:pPr algn="l"/>
            <a:r>
              <a:rPr sz="950" b="1" i="0">
                <a:solidFill>
                  <a:srgbClr val="5A6275"/>
                </a:solidFill>
                <a:latin typeface="Calibri"/>
              </a:rPr>
              <a:t>LIKELY RISK</a:t>
            </a:r>
          </a:p>
        </p:txBody>
      </p:sp>
      <p:sp>
        <p:nvSpPr>
          <p:cNvPr id="23" name="Head RESPONSE"/>
          <p:cNvSpPr txBox="1"/>
          <p:nvPr/>
        </p:nvSpPr>
        <p:spPr>
          <a:xfrm>
            <a:off x="10012680" y="2852928"/>
            <a:ext cx="1737360" cy="228600"/>
          </a:xfrm>
          <a:prstGeom prst="rect">
            <a:avLst/>
          </a:prstGeom>
          <a:noFill/>
        </p:spPr>
        <p:txBody>
          <a:bodyPr wrap="square" lIns="0" rIns="0" tIns="0" bIns="0" anchor="t">
            <a:spAutoFit/>
          </a:bodyPr>
          <a:lstStyle/>
          <a:p>
            <a:pPr algn="l"/>
            <a:r>
              <a:rPr sz="950" b="1" i="0">
                <a:solidFill>
                  <a:srgbClr val="5A6275"/>
                </a:solidFill>
                <a:latin typeface="Calibri"/>
              </a:rPr>
              <a:t>RESPONSE</a:t>
            </a:r>
          </a:p>
        </p:txBody>
      </p:sp>
      <p:sp>
        <p:nvSpPr>
          <p:cNvPr id="24" name="Row 1 line"/>
          <p:cNvSpPr/>
          <p:nvPr/>
        </p:nvSpPr>
        <p:spPr>
          <a:xfrm>
            <a:off x="6080760" y="3127248"/>
            <a:ext cx="5669280" cy="10972"/>
          </a:xfrm>
          <a:prstGeom prst="rect">
            <a:avLst/>
          </a:prstGeom>
          <a:solidFill>
            <a:srgbClr val="C9C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w 1 see"/>
          <p:cNvSpPr txBox="1"/>
          <p:nvPr/>
        </p:nvSpPr>
        <p:spPr>
          <a:xfrm>
            <a:off x="6080760" y="3172968"/>
            <a:ext cx="2697480" cy="475488"/>
          </a:xfrm>
          <a:prstGeom prst="rect">
            <a:avLst/>
          </a:prstGeom>
          <a:noFill/>
        </p:spPr>
        <p:txBody>
          <a:bodyPr wrap="square" lIns="0" rIns="0" tIns="0" bIns="0" anchor="ctr">
            <a:spAutoFit/>
          </a:bodyPr>
          <a:lstStyle/>
          <a:p>
            <a:pPr algn="l"/>
            <a:r>
              <a:rPr sz="1200" b="0" i="0">
                <a:solidFill>
                  <a:srgbClr val="222222"/>
                </a:solidFill>
                <a:latin typeface="Calibri"/>
              </a:rPr>
              <a:t>Usual payee, own phone, normal typing</a:t>
            </a:r>
          </a:p>
        </p:txBody>
      </p:sp>
      <p:sp>
        <p:nvSpPr>
          <p:cNvPr id="26" name="Row 1 risk"/>
          <p:cNvSpPr txBox="1"/>
          <p:nvPr/>
        </p:nvSpPr>
        <p:spPr>
          <a:xfrm>
            <a:off x="8869680" y="3172968"/>
            <a:ext cx="1097280" cy="475488"/>
          </a:xfrm>
          <a:prstGeom prst="rect">
            <a:avLst/>
          </a:prstGeom>
          <a:noFill/>
        </p:spPr>
        <p:txBody>
          <a:bodyPr wrap="square" lIns="0" rIns="0" tIns="0" bIns="0" anchor="ctr">
            <a:spAutoFit/>
          </a:bodyPr>
          <a:lstStyle/>
          <a:p>
            <a:pPr algn="l"/>
            <a:r>
              <a:rPr sz="1200" b="0" i="0">
                <a:solidFill>
                  <a:srgbClr val="222222"/>
                </a:solidFill>
                <a:latin typeface="Calibri"/>
              </a:rPr>
              <a:t>None</a:t>
            </a:r>
          </a:p>
        </p:txBody>
      </p:sp>
      <p:sp>
        <p:nvSpPr>
          <p:cNvPr id="27" name="Row 1 mark"/>
          <p:cNvSpPr/>
          <p:nvPr/>
        </p:nvSpPr>
        <p:spPr>
          <a:xfrm>
            <a:off x="10012680" y="3346704"/>
            <a:ext cx="109728" cy="10972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w 1 resp"/>
          <p:cNvSpPr txBox="1"/>
          <p:nvPr/>
        </p:nvSpPr>
        <p:spPr>
          <a:xfrm>
            <a:off x="10195560" y="3172968"/>
            <a:ext cx="1554480" cy="475488"/>
          </a:xfrm>
          <a:prstGeom prst="rect">
            <a:avLst/>
          </a:prstGeom>
          <a:noFill/>
        </p:spPr>
        <p:txBody>
          <a:bodyPr wrap="square" lIns="0" rIns="0" tIns="0" bIns="0" anchor="ctr">
            <a:spAutoFit/>
          </a:bodyPr>
          <a:lstStyle/>
          <a:p>
            <a:pPr algn="l"/>
            <a:r>
              <a:rPr sz="1200" b="1" i="0">
                <a:solidFill>
                  <a:srgbClr val="2E7D32"/>
                </a:solidFill>
                <a:latin typeface="Calibri"/>
              </a:rPr>
              <a:t>Allow, no extra step</a:t>
            </a:r>
          </a:p>
        </p:txBody>
      </p:sp>
      <p:sp>
        <p:nvSpPr>
          <p:cNvPr id="29" name="Row 2 line"/>
          <p:cNvSpPr/>
          <p:nvPr/>
        </p:nvSpPr>
        <p:spPr>
          <a:xfrm>
            <a:off x="6080760" y="3675887"/>
            <a:ext cx="5669280" cy="10972"/>
          </a:xfrm>
          <a:prstGeom prst="rect">
            <a:avLst/>
          </a:prstGeom>
          <a:solidFill>
            <a:srgbClr val="C9C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w 2 see"/>
          <p:cNvSpPr txBox="1"/>
          <p:nvPr/>
        </p:nvSpPr>
        <p:spPr>
          <a:xfrm>
            <a:off x="6080760" y="3721607"/>
            <a:ext cx="2697480" cy="475488"/>
          </a:xfrm>
          <a:prstGeom prst="rect">
            <a:avLst/>
          </a:prstGeom>
          <a:noFill/>
        </p:spPr>
        <p:txBody>
          <a:bodyPr wrap="square" lIns="0" rIns="0" tIns="0" bIns="0" anchor="ctr">
            <a:spAutoFit/>
          </a:bodyPr>
          <a:lstStyle/>
          <a:p>
            <a:pPr algn="l"/>
            <a:r>
              <a:rPr sz="1200" b="0" i="0">
                <a:solidFill>
                  <a:srgbClr val="222222"/>
                </a:solidFill>
                <a:latin typeface="Calibri"/>
              </a:rPr>
              <a:t>New phone, SIM changed yesterday, new city</a:t>
            </a:r>
          </a:p>
        </p:txBody>
      </p:sp>
      <p:sp>
        <p:nvSpPr>
          <p:cNvPr id="31" name="Row 2 risk"/>
          <p:cNvSpPr txBox="1"/>
          <p:nvPr/>
        </p:nvSpPr>
        <p:spPr>
          <a:xfrm>
            <a:off x="8869680" y="3721607"/>
            <a:ext cx="1097280" cy="475488"/>
          </a:xfrm>
          <a:prstGeom prst="rect">
            <a:avLst/>
          </a:prstGeom>
          <a:noFill/>
        </p:spPr>
        <p:txBody>
          <a:bodyPr wrap="square" lIns="0" rIns="0" tIns="0" bIns="0" anchor="ctr">
            <a:spAutoFit/>
          </a:bodyPr>
          <a:lstStyle/>
          <a:p>
            <a:pPr algn="l"/>
            <a:r>
              <a:rPr sz="1200" b="0" i="0">
                <a:solidFill>
                  <a:srgbClr val="222222"/>
                </a:solidFill>
                <a:latin typeface="Calibri"/>
              </a:rPr>
              <a:t>Impostor</a:t>
            </a:r>
          </a:p>
        </p:txBody>
      </p:sp>
      <p:sp>
        <p:nvSpPr>
          <p:cNvPr id="32" name="Row 2 mark"/>
          <p:cNvSpPr/>
          <p:nvPr/>
        </p:nvSpPr>
        <p:spPr>
          <a:xfrm>
            <a:off x="10012680" y="3895344"/>
            <a:ext cx="109728" cy="109728"/>
          </a:xfrm>
          <a:prstGeom prst="rect">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w 2 resp"/>
          <p:cNvSpPr txBox="1"/>
          <p:nvPr/>
        </p:nvSpPr>
        <p:spPr>
          <a:xfrm>
            <a:off x="10195560" y="3721607"/>
            <a:ext cx="1554480" cy="475488"/>
          </a:xfrm>
          <a:prstGeom prst="rect">
            <a:avLst/>
          </a:prstGeom>
          <a:noFill/>
        </p:spPr>
        <p:txBody>
          <a:bodyPr wrap="square" lIns="0" rIns="0" tIns="0" bIns="0" anchor="ctr">
            <a:spAutoFit/>
          </a:bodyPr>
          <a:lstStyle/>
          <a:p>
            <a:pPr algn="l"/>
            <a:r>
              <a:rPr sz="1200" b="1" i="0">
                <a:solidFill>
                  <a:srgbClr val="B25E00"/>
                </a:solidFill>
                <a:latin typeface="Calibri"/>
              </a:rPr>
              <a:t>Approve on registered phone (passkey)</a:t>
            </a:r>
          </a:p>
        </p:txBody>
      </p:sp>
      <p:sp>
        <p:nvSpPr>
          <p:cNvPr id="34" name="Row 3 line"/>
          <p:cNvSpPr/>
          <p:nvPr/>
        </p:nvSpPr>
        <p:spPr>
          <a:xfrm>
            <a:off x="6080760" y="4224528"/>
            <a:ext cx="5669280" cy="10972"/>
          </a:xfrm>
          <a:prstGeom prst="rect">
            <a:avLst/>
          </a:prstGeom>
          <a:solidFill>
            <a:srgbClr val="C9C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w 3 see"/>
          <p:cNvSpPr txBox="1"/>
          <p:nvPr/>
        </p:nvSpPr>
        <p:spPr>
          <a:xfrm>
            <a:off x="6080760" y="4270248"/>
            <a:ext cx="2697480" cy="475488"/>
          </a:xfrm>
          <a:prstGeom prst="rect">
            <a:avLst/>
          </a:prstGeom>
          <a:noFill/>
        </p:spPr>
        <p:txBody>
          <a:bodyPr wrap="square" lIns="0" rIns="0" tIns="0" bIns="0" anchor="ctr">
            <a:spAutoFit/>
          </a:bodyPr>
          <a:lstStyle/>
          <a:p>
            <a:pPr algn="l"/>
            <a:r>
              <a:rPr sz="1200" b="0" i="0">
                <a:solidFill>
                  <a:srgbClr val="222222"/>
                </a:solidFill>
                <a:latin typeface="Calibri"/>
              </a:rPr>
              <a:t>Own phone at home, on a call, new UPI ID pasted</a:t>
            </a:r>
          </a:p>
        </p:txBody>
      </p:sp>
      <p:sp>
        <p:nvSpPr>
          <p:cNvPr id="36" name="Row 3 risk"/>
          <p:cNvSpPr txBox="1"/>
          <p:nvPr/>
        </p:nvSpPr>
        <p:spPr>
          <a:xfrm>
            <a:off x="8869680" y="4270248"/>
            <a:ext cx="1097280" cy="475488"/>
          </a:xfrm>
          <a:prstGeom prst="rect">
            <a:avLst/>
          </a:prstGeom>
          <a:noFill/>
        </p:spPr>
        <p:txBody>
          <a:bodyPr wrap="square" lIns="0" rIns="0" tIns="0" bIns="0" anchor="ctr">
            <a:spAutoFit/>
          </a:bodyPr>
          <a:lstStyle/>
          <a:p>
            <a:pPr algn="l"/>
            <a:r>
              <a:rPr sz="1200" b="0" i="0">
                <a:solidFill>
                  <a:srgbClr val="222222"/>
                </a:solidFill>
                <a:latin typeface="Calibri"/>
              </a:rPr>
              <a:t>Coached victim</a:t>
            </a:r>
          </a:p>
        </p:txBody>
      </p:sp>
      <p:sp>
        <p:nvSpPr>
          <p:cNvPr id="37" name="Row 3 mark"/>
          <p:cNvSpPr/>
          <p:nvPr/>
        </p:nvSpPr>
        <p:spPr>
          <a:xfrm>
            <a:off x="10012680" y="4443984"/>
            <a:ext cx="109728" cy="109728"/>
          </a:xfrm>
          <a:prstGeom prst="rect">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w 3 resp"/>
          <p:cNvSpPr txBox="1"/>
          <p:nvPr/>
        </p:nvSpPr>
        <p:spPr>
          <a:xfrm>
            <a:off x="10195560" y="4270248"/>
            <a:ext cx="1554480" cy="475488"/>
          </a:xfrm>
          <a:prstGeom prst="rect">
            <a:avLst/>
          </a:prstGeom>
          <a:noFill/>
        </p:spPr>
        <p:txBody>
          <a:bodyPr wrap="square" lIns="0" rIns="0" tIns="0" bIns="0" anchor="ctr">
            <a:spAutoFit/>
          </a:bodyPr>
          <a:lstStyle/>
          <a:p>
            <a:pPr algn="l"/>
            <a:r>
              <a:rPr sz="1200" b="1" i="0">
                <a:solidFill>
                  <a:srgbClr val="B25E00"/>
                </a:solidFill>
                <a:latin typeface="Calibri"/>
              </a:rPr>
              <a:t>30-min hold until family approves</a:t>
            </a:r>
          </a:p>
        </p:txBody>
      </p:sp>
      <p:sp>
        <p:nvSpPr>
          <p:cNvPr id="39" name="Row 4 line"/>
          <p:cNvSpPr/>
          <p:nvPr/>
        </p:nvSpPr>
        <p:spPr>
          <a:xfrm>
            <a:off x="6080760" y="4773168"/>
            <a:ext cx="5669280" cy="10972"/>
          </a:xfrm>
          <a:prstGeom prst="rect">
            <a:avLst/>
          </a:prstGeom>
          <a:solidFill>
            <a:srgbClr val="C9C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w 4 see"/>
          <p:cNvSpPr txBox="1"/>
          <p:nvPr/>
        </p:nvSpPr>
        <p:spPr>
          <a:xfrm>
            <a:off x="6080760" y="4818888"/>
            <a:ext cx="2697480" cy="475488"/>
          </a:xfrm>
          <a:prstGeom prst="rect">
            <a:avLst/>
          </a:prstGeom>
          <a:noFill/>
        </p:spPr>
        <p:txBody>
          <a:bodyPr wrap="square" lIns="0" rIns="0" tIns="0" bIns="0" anchor="ctr">
            <a:spAutoFit/>
          </a:bodyPr>
          <a:lstStyle/>
          <a:p>
            <a:pPr algn="l"/>
            <a:r>
              <a:rPr sz="1200" b="0" i="0">
                <a:solidFill>
                  <a:srgbClr val="222222"/>
                </a:solidFill>
                <a:latin typeface="Calibri"/>
              </a:rPr>
              <a:t>Emulator + VPN, 15 PIN retries in 10 min</a:t>
            </a:r>
          </a:p>
        </p:txBody>
      </p:sp>
      <p:sp>
        <p:nvSpPr>
          <p:cNvPr id="41" name="Row 4 risk"/>
          <p:cNvSpPr txBox="1"/>
          <p:nvPr/>
        </p:nvSpPr>
        <p:spPr>
          <a:xfrm>
            <a:off x="8869680" y="4818888"/>
            <a:ext cx="1097280" cy="475488"/>
          </a:xfrm>
          <a:prstGeom prst="rect">
            <a:avLst/>
          </a:prstGeom>
          <a:noFill/>
        </p:spPr>
        <p:txBody>
          <a:bodyPr wrap="square" lIns="0" rIns="0" tIns="0" bIns="0" anchor="ctr">
            <a:spAutoFit/>
          </a:bodyPr>
          <a:lstStyle/>
          <a:p>
            <a:pPr algn="l"/>
            <a:r>
              <a:rPr sz="1200" b="0" i="0">
                <a:solidFill>
                  <a:srgbClr val="222222"/>
                </a:solidFill>
                <a:latin typeface="Calibri"/>
              </a:rPr>
              <a:t>Bot</a:t>
            </a:r>
          </a:p>
        </p:txBody>
      </p:sp>
      <p:sp>
        <p:nvSpPr>
          <p:cNvPr id="42" name="Row 4 mark"/>
          <p:cNvSpPr/>
          <p:nvPr/>
        </p:nvSpPr>
        <p:spPr>
          <a:xfrm>
            <a:off x="10012680" y="4992624"/>
            <a:ext cx="109728" cy="1097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w 4 resp"/>
          <p:cNvSpPr txBox="1"/>
          <p:nvPr/>
        </p:nvSpPr>
        <p:spPr>
          <a:xfrm>
            <a:off x="10195560" y="4818888"/>
            <a:ext cx="1554480" cy="475488"/>
          </a:xfrm>
          <a:prstGeom prst="rect">
            <a:avLst/>
          </a:prstGeom>
          <a:noFill/>
        </p:spPr>
        <p:txBody>
          <a:bodyPr wrap="square" lIns="0" rIns="0" tIns="0" bIns="0" anchor="ctr">
            <a:spAutoFit/>
          </a:bodyPr>
          <a:lstStyle/>
          <a:p>
            <a:pPr algn="l"/>
            <a:r>
              <a:rPr sz="1200" b="1" i="0">
                <a:solidFill>
                  <a:srgbClr val="C62828"/>
                </a:solidFill>
                <a:latin typeface="Calibri"/>
              </a:rPr>
              <a:t>Block</a:t>
            </a:r>
          </a:p>
        </p:txBody>
      </p:sp>
      <p:sp>
        <p:nvSpPr>
          <p:cNvPr id="44" name="Row end line"/>
          <p:cNvSpPr/>
          <p:nvPr/>
        </p:nvSpPr>
        <p:spPr>
          <a:xfrm>
            <a:off x="6080760" y="5321808"/>
            <a:ext cx="5669280" cy="10972"/>
          </a:xfrm>
          <a:prstGeom prst="rect">
            <a:avLst/>
          </a:prstGeom>
          <a:solidFill>
            <a:srgbClr val="C9C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asons"/>
          <p:cNvSpPr txBox="1"/>
          <p:nvPr/>
        </p:nvSpPr>
        <p:spPr>
          <a:xfrm>
            <a:off x="6080760" y="5486400"/>
            <a:ext cx="5669280" cy="1051560"/>
          </a:xfrm>
          <a:prstGeom prst="rect">
            <a:avLst/>
          </a:prstGeom>
          <a:noFill/>
        </p:spPr>
        <p:txBody>
          <a:bodyPr wrap="square" lIns="0" rIns="0" tIns="0" bIns="0" anchor="t">
            <a:spAutoFit/>
          </a:bodyPr>
          <a:lstStyle/>
          <a:p>
            <a:pPr algn="l">
              <a:spcAft>
                <a:spcPts val="300"/>
              </a:spcAft>
            </a:pPr>
            <a:r>
              <a:rPr sz="1050" b="1" i="0">
                <a:solidFill>
                  <a:srgbClr val="1E2761"/>
                </a:solidFill>
                <a:latin typeface="Calibri"/>
              </a:rPr>
              <a:t>REASONS THE API RETURNS FOR SITUATION 3 (TOP 3)</a:t>
            </a:r>
          </a:p>
          <a:p>
            <a:pPr algn="l">
              <a:spcAft>
                <a:spcPts val="100"/>
              </a:spcAft>
            </a:pPr>
            <a:r>
              <a:rPr sz="1150" b="0" i="0">
                <a:solidFill>
                  <a:srgbClr val="222222"/>
                </a:solidFill>
                <a:latin typeface="Calibri"/>
              </a:rPr>
              <a:t>You're on a phone call while sending money</a:t>
            </a:r>
          </a:p>
          <a:p>
            <a:pPr algn="l">
              <a:spcAft>
                <a:spcPts val="100"/>
              </a:spcAft>
            </a:pPr>
            <a:r>
              <a:rPr sz="1150" b="0" i="0">
                <a:solidFill>
                  <a:srgbClr val="222222"/>
                </a:solidFill>
                <a:latin typeface="Calibri"/>
              </a:rPr>
              <a:t>First payment to this receiver</a:t>
            </a:r>
          </a:p>
          <a:p>
            <a:pPr algn="l"/>
            <a:r>
              <a:rPr sz="1150" b="0" i="0">
                <a:solidFill>
                  <a:srgbClr val="222222"/>
                </a:solidFill>
                <a:latin typeface="Calibri"/>
              </a:rPr>
              <a:t>Amount is 71× your usual ₹1,200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One API call: context in, an explained decision out, in milliseconds</a:t>
            </a:r>
            <a:endParaRPr lang="en-US" sz="2000" dirty="0"/>
          </a:p>
        </p:txBody>
      </p:sp>
      <p:sp>
        <p:nvSpPr>
          <p:cNvPr id="13" name="Text 1">
            <a:extLst>
              <a:ext uri="{FF2B5EF4-FFF2-40B4-BE49-F238E27FC236}">
                <a16:creationId xmlns:a16="http://schemas.microsoft.com/office/drawing/2014/main" id="{62A87E1A-1A0A-8674-804A-3DF0E9A8DB8B}"/>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4 OF 5</a:t>
            </a:r>
            <a:endParaRPr lang="en-US" sz="1200" dirty="0"/>
          </a:p>
        </p:txBody>
      </p:sp>
      <p:sp>
        <p:nvSpPr>
          <p:cNvPr id="15" name="Text 2">
            <a:extLst>
              <a:ext uri="{FF2B5EF4-FFF2-40B4-BE49-F238E27FC236}">
                <a16:creationId xmlns:a16="http://schemas.microsoft.com/office/drawing/2014/main" id="{15DDE14C-9F4C-B780-B8A2-5E0A1B67CED5}"/>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Technical Approach</a:t>
            </a:r>
            <a:endParaRPr lang="en-US" sz="2800" dirty="0"/>
          </a:p>
        </p:txBody>
      </p:sp>
      <p:sp>
        <p:nvSpPr>
          <p:cNvPr id="16" name="D1"/>
          <p:cNvSpPr/>
          <p:nvPr/>
        </p:nvSpPr>
        <p:spPr>
          <a:xfrm>
            <a:off x="457200" y="2560320"/>
            <a:ext cx="1874519" cy="1371600"/>
          </a:xfrm>
          <a:prstGeom prst="roundRect">
            <a:avLst>
              <a:gd name="adj" fmla="val 2000"/>
            </a:avLst>
          </a:prstGeom>
          <a:solidFill>
            <a:srgbClr val="FFFFFF"/>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70408" bIns="70408"/>
          <a:lstStyle/>
          <a:p>
            <a:pPr algn="l">
              <a:spcAft>
                <a:spcPts val="300"/>
              </a:spcAft>
            </a:pPr>
            <a:r>
              <a:rPr sz="1150" b="1" i="0">
                <a:solidFill>
                  <a:srgbClr val="1E2761"/>
                </a:solidFill>
                <a:latin typeface="Calibri"/>
              </a:rPr>
              <a:t>Demo UPI app + JS SDK</a:t>
            </a:r>
          </a:p>
          <a:p>
            <a:pPr algn="l">
              <a:spcAft>
                <a:spcPts val="100"/>
              </a:spcAft>
            </a:pPr>
            <a:r>
              <a:rPr sz="1050" b="0" i="0">
                <a:solidFill>
                  <a:srgbClr val="222222"/>
                </a:solidFill>
                <a:latin typeface="Calibri"/>
              </a:rPr>
              <a:t>amount, payee, device</a:t>
            </a:r>
          </a:p>
          <a:p>
            <a:pPr algn="l">
              <a:spcAft>
                <a:spcPts val="100"/>
              </a:spcAft>
            </a:pPr>
            <a:r>
              <a:rPr sz="1050" b="0" i="0">
                <a:solidFill>
                  <a:srgbClr val="222222"/>
                </a:solidFill>
                <a:latin typeface="Calibri"/>
              </a:rPr>
              <a:t>typing rhythm, paste, time to pay</a:t>
            </a:r>
          </a:p>
          <a:p>
            <a:pPr algn="l">
              <a:spcAft>
                <a:spcPts val="100"/>
              </a:spcAft>
            </a:pPr>
            <a:r>
              <a:rPr sz="1050" b="0" i="0">
                <a:solidFill>
                  <a:srgbClr val="222222"/>
                </a:solidFill>
                <a:latin typeface="Calibri"/>
              </a:rPr>
              <a:t>on-call, screen-share (toggles)</a:t>
            </a:r>
          </a:p>
        </p:txBody>
      </p:sp>
      <p:sp>
        <p:nvSpPr>
          <p:cNvPr id="17" name="D2"/>
          <p:cNvSpPr/>
          <p:nvPr/>
        </p:nvSpPr>
        <p:spPr>
          <a:xfrm>
            <a:off x="2606040" y="2560320"/>
            <a:ext cx="1828800" cy="1371600"/>
          </a:xfrm>
          <a:prstGeom prst="roundRect">
            <a:avLst>
              <a:gd name="adj" fmla="val 2000"/>
            </a:avLst>
          </a:prstGeom>
          <a:solidFill>
            <a:srgbClr val="FFFFFF"/>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70408" bIns="70408"/>
          <a:lstStyle/>
          <a:p>
            <a:pPr algn="l">
              <a:spcAft>
                <a:spcPts val="300"/>
              </a:spcAft>
            </a:pPr>
            <a:r>
              <a:rPr sz="1050" b="1" i="0">
                <a:solidFill>
                  <a:srgbClr val="1E2761"/>
                </a:solidFill>
                <a:latin typeface="Consolas"/>
              </a:rPr>
              <a:t>POST /v1/authenticate</a:t>
            </a:r>
          </a:p>
          <a:p>
            <a:pPr algn="l">
              <a:spcAft>
                <a:spcPts val="100"/>
              </a:spcAft>
            </a:pPr>
            <a:r>
              <a:rPr sz="1050" b="0" i="0">
                <a:solidFill>
                  <a:srgbClr val="222222"/>
                </a:solidFill>
                <a:latin typeface="Calibri"/>
              </a:rPr>
              <a:t>FastAPI</a:t>
            </a:r>
          </a:p>
          <a:p>
            <a:pPr algn="l">
              <a:spcAft>
                <a:spcPts val="100"/>
              </a:spcAft>
            </a:pPr>
            <a:r>
              <a:rPr sz="1050" b="0" i="0">
                <a:solidFill>
                  <a:srgbClr val="222222"/>
                </a:solidFill>
                <a:latin typeface="Calibri"/>
              </a:rPr>
              <a:t>error or &gt; 150 ms: fall back to standard 2FA</a:t>
            </a:r>
          </a:p>
        </p:txBody>
      </p:sp>
      <p:sp>
        <p:nvSpPr>
          <p:cNvPr id="18" name="D3"/>
          <p:cNvSpPr/>
          <p:nvPr/>
        </p:nvSpPr>
        <p:spPr>
          <a:xfrm>
            <a:off x="4709160" y="2560320"/>
            <a:ext cx="1828800" cy="1371600"/>
          </a:xfrm>
          <a:prstGeom prst="roundRect">
            <a:avLst>
              <a:gd name="adj" fmla="val 2000"/>
            </a:avLst>
          </a:prstGeom>
          <a:solidFill>
            <a:srgbClr val="FFFFFF"/>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70408" bIns="70408"/>
          <a:lstStyle/>
          <a:p>
            <a:pPr algn="l">
              <a:spcAft>
                <a:spcPts val="300"/>
              </a:spcAft>
            </a:pPr>
            <a:r>
              <a:rPr sz="1150" b="1" i="0">
                <a:solidFill>
                  <a:srgbClr val="1E2761"/>
                </a:solidFill>
                <a:latin typeface="Calibri"/>
              </a:rPr>
              <a:t>Feature builder</a:t>
            </a:r>
          </a:p>
          <a:p>
            <a:pPr algn="l">
              <a:spcAft>
                <a:spcPts val="100"/>
              </a:spcAft>
            </a:pPr>
            <a:r>
              <a:rPr sz="1050" b="0" i="0">
                <a:solidFill>
                  <a:srgbClr val="222222"/>
                </a:solidFill>
                <a:latin typeface="Calibri"/>
              </a:rPr>
              <a:t>~25 features vs this user's own history</a:t>
            </a:r>
          </a:p>
          <a:p>
            <a:pPr algn="l">
              <a:spcAft>
                <a:spcPts val="100"/>
              </a:spcAft>
            </a:pPr>
            <a:r>
              <a:rPr sz="1050" b="0" i="0">
                <a:solidFill>
                  <a:srgbClr val="222222"/>
                </a:solidFill>
                <a:latin typeface="Calibri"/>
              </a:rPr>
              <a:t>e.g. amount ÷ usual, new payee, new device</a:t>
            </a:r>
          </a:p>
        </p:txBody>
      </p:sp>
      <p:sp>
        <p:nvSpPr>
          <p:cNvPr id="19" name="D4"/>
          <p:cNvSpPr/>
          <p:nvPr/>
        </p:nvSpPr>
        <p:spPr>
          <a:xfrm>
            <a:off x="6812280" y="2560320"/>
            <a:ext cx="2788920" cy="1371600"/>
          </a:xfrm>
          <a:prstGeom prst="roundRect">
            <a:avLst>
              <a:gd name="adj" fmla="val 2000"/>
            </a:avLst>
          </a:prstGeom>
          <a:solidFill>
            <a:srgbClr val="FFFFFF"/>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70408" bIns="70408"/>
          <a:lstStyle/>
          <a:p>
            <a:pPr algn="l">
              <a:spcAft>
                <a:spcPts val="300"/>
              </a:spcAft>
            </a:pPr>
            <a:r>
              <a:rPr sz="1150" b="1" i="0">
                <a:solidFill>
                  <a:srgbClr val="1E2761"/>
                </a:solidFill>
                <a:latin typeface="Calibri"/>
              </a:rPr>
              <a:t>Risk engine</a:t>
            </a:r>
          </a:p>
          <a:p>
            <a:pPr algn="l">
              <a:spcAft>
                <a:spcPts val="100"/>
              </a:spcAft>
            </a:pPr>
            <a:r>
              <a:rPr sz="1050" b="0" i="0">
                <a:solidFill>
                  <a:srgbClr val="222222"/>
                </a:solidFill>
                <a:latin typeface="Calibri"/>
              </a:rPr>
              <a:t>1  rules: hard blocks, fast-path allow</a:t>
            </a:r>
          </a:p>
          <a:p>
            <a:pPr algn="l">
              <a:spcAft>
                <a:spcPts val="100"/>
              </a:spcAft>
            </a:pPr>
            <a:r>
              <a:rPr sz="1050" b="0" i="0">
                <a:solidFill>
                  <a:srgbClr val="222222"/>
                </a:solidFill>
                <a:latin typeface="Calibri"/>
              </a:rPr>
              <a:t>2  LightGBM: fraud probability p</a:t>
            </a:r>
          </a:p>
          <a:p>
            <a:pPr algn="l">
              <a:spcAft>
                <a:spcPts val="100"/>
              </a:spcAft>
            </a:pPr>
            <a:r>
              <a:rPr sz="1050" b="0" i="0">
                <a:solidFill>
                  <a:srgbClr val="222222"/>
                </a:solidFill>
                <a:latin typeface="Calibri"/>
              </a:rPr>
              <a:t>3  TreeSHAP: each signal's share → reasons</a:t>
            </a:r>
          </a:p>
          <a:p>
            <a:pPr algn="l">
              <a:spcAft>
                <a:spcPts val="100"/>
              </a:spcAft>
            </a:pPr>
            <a:r>
              <a:rPr sz="1050" b="0" i="0">
                <a:solidFill>
                  <a:srgbClr val="222222"/>
                </a:solidFill>
                <a:latin typeface="Calibri"/>
              </a:rPr>
              <a:t>4  risk type: impostor, scam, bot, mule</a:t>
            </a:r>
          </a:p>
          <a:p>
            <a:pPr algn="l">
              <a:spcAft>
                <a:spcPts val="100"/>
              </a:spcAft>
            </a:pPr>
            <a:r>
              <a:rPr sz="1050" b="0" i="0">
                <a:solidFill>
                  <a:srgbClr val="222222"/>
                </a:solidFill>
                <a:latin typeface="Calibri"/>
              </a:rPr>
              <a:t>5  cost policy: decision + challenge type</a:t>
            </a:r>
          </a:p>
        </p:txBody>
      </p:sp>
      <p:sp>
        <p:nvSpPr>
          <p:cNvPr id="20" name="D5"/>
          <p:cNvSpPr/>
          <p:nvPr/>
        </p:nvSpPr>
        <p:spPr>
          <a:xfrm>
            <a:off x="9875520" y="2560320"/>
            <a:ext cx="1874519" cy="1371600"/>
          </a:xfrm>
          <a:prstGeom prst="roundRect">
            <a:avLst>
              <a:gd name="adj" fmla="val 2000"/>
            </a:avLst>
          </a:prstGeom>
          <a:solidFill>
            <a:srgbClr val="FFFFFF"/>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70408" bIns="70408"/>
          <a:lstStyle/>
          <a:p>
            <a:pPr algn="l">
              <a:spcAft>
                <a:spcPts val="300"/>
              </a:spcAft>
            </a:pPr>
            <a:r>
              <a:rPr sz="1150" b="1" i="0">
                <a:solidFill>
                  <a:srgbClr val="1E2761"/>
                </a:solidFill>
                <a:latin typeface="Calibri"/>
              </a:rPr>
              <a:t>Response</a:t>
            </a:r>
          </a:p>
          <a:p>
            <a:pPr algn="l">
              <a:spcAft>
                <a:spcPts val="100"/>
              </a:spcAft>
            </a:pPr>
            <a:r>
              <a:rPr sz="1050" b="0" i="0">
                <a:solidFill>
                  <a:srgbClr val="222222"/>
                </a:solidFill>
                <a:latin typeface="Calibri"/>
              </a:rPr>
              <a:t>allow / challenge / block</a:t>
            </a:r>
          </a:p>
          <a:p>
            <a:pPr algn="l">
              <a:spcAft>
                <a:spcPts val="100"/>
              </a:spcAft>
            </a:pPr>
            <a:r>
              <a:rPr sz="1050" b="0" i="0">
                <a:solidFill>
                  <a:srgbClr val="222222"/>
                </a:solidFill>
                <a:latin typeface="Calibri"/>
              </a:rPr>
              <a:t>challenge type</a:t>
            </a:r>
          </a:p>
          <a:p>
            <a:pPr algn="l">
              <a:spcAft>
                <a:spcPts val="100"/>
              </a:spcAft>
            </a:pPr>
            <a:r>
              <a:rPr sz="1050" b="0" i="0">
                <a:solidFill>
                  <a:srgbClr val="222222"/>
                </a:solidFill>
                <a:latin typeface="Calibri"/>
              </a:rPr>
              <a:t>top-3 reasons</a:t>
            </a:r>
          </a:p>
          <a:p>
            <a:pPr algn="l">
              <a:spcAft>
                <a:spcPts val="100"/>
              </a:spcAft>
            </a:pPr>
            <a:r>
              <a:rPr sz="1050" b="0" i="0">
                <a:solidFill>
                  <a:srgbClr val="222222"/>
                </a:solidFill>
                <a:latin typeface="Calibri"/>
              </a:rPr>
              <a:t>latency_ms</a:t>
            </a:r>
          </a:p>
        </p:txBody>
      </p:sp>
      <p:cxnSp>
        <p:nvCxnSpPr>
          <p:cNvPr id="21" name="A1"/>
          <p:cNvCxnSpPr/>
          <p:nvPr/>
        </p:nvCxnSpPr>
        <p:spPr>
          <a:xfrm>
            <a:off x="2331720" y="3127248"/>
            <a:ext cx="274320"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A2"/>
          <p:cNvCxnSpPr/>
          <p:nvPr/>
        </p:nvCxnSpPr>
        <p:spPr>
          <a:xfrm>
            <a:off x="4434840" y="3127248"/>
            <a:ext cx="274320"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A3"/>
          <p:cNvCxnSpPr/>
          <p:nvPr/>
        </p:nvCxnSpPr>
        <p:spPr>
          <a:xfrm>
            <a:off x="6537960" y="3127248"/>
            <a:ext cx="274320"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A4"/>
          <p:cNvCxnSpPr/>
          <p:nvPr/>
        </p:nvCxnSpPr>
        <p:spPr>
          <a:xfrm>
            <a:off x="9601200" y="3127248"/>
            <a:ext cx="274320"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D3b"/>
          <p:cNvSpPr/>
          <p:nvPr/>
        </p:nvSpPr>
        <p:spPr>
          <a:xfrm>
            <a:off x="4709160" y="4206240"/>
            <a:ext cx="1828800" cy="713232"/>
          </a:xfrm>
          <a:prstGeom prst="roundRect">
            <a:avLst>
              <a:gd name="adj" fmla="val 2000"/>
            </a:avLst>
          </a:prstGeom>
          <a:solidFill>
            <a:srgbClr val="FFFFFF"/>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70408" bIns="70408"/>
          <a:lstStyle/>
          <a:p>
            <a:pPr algn="l">
              <a:spcAft>
                <a:spcPts val="300"/>
              </a:spcAft>
            </a:pPr>
            <a:r>
              <a:rPr sz="1150" b="1" i="0">
                <a:solidFill>
                  <a:srgbClr val="1E2761"/>
                </a:solidFill>
                <a:latin typeface="Calibri"/>
              </a:rPr>
              <a:t>Profile store</a:t>
            </a:r>
          </a:p>
          <a:p>
            <a:pPr algn="l">
              <a:spcAft>
                <a:spcPts val="100"/>
              </a:spcAft>
            </a:pPr>
            <a:r>
              <a:rPr sz="1050" b="0" i="0">
                <a:solidFill>
                  <a:srgbClr val="222222"/>
                </a:solidFill>
                <a:latin typeface="Calibri"/>
              </a:rPr>
              <a:t>usual amount, devices, payees, hours</a:t>
            </a:r>
          </a:p>
        </p:txBody>
      </p:sp>
      <p:cxnSp>
        <p:nvCxnSpPr>
          <p:cNvPr id="26" name="A profile"/>
          <p:cNvCxnSpPr/>
          <p:nvPr/>
        </p:nvCxnSpPr>
        <p:spPr>
          <a:xfrm flipV="1">
            <a:off x="5623560" y="3931920"/>
            <a:ext cx="0" cy="274320"/>
          </a:xfrm>
          <a:prstGeom prst="line">
            <a:avLst/>
          </a:prstGeom>
          <a:ln w="1587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After decision"/>
          <p:cNvSpPr/>
          <p:nvPr/>
        </p:nvSpPr>
        <p:spPr>
          <a:xfrm>
            <a:off x="6812280" y="4206240"/>
            <a:ext cx="4937760" cy="731520"/>
          </a:xfrm>
          <a:prstGeom prst="roundRect">
            <a:avLst>
              <a:gd name="adj" fmla="val 2000"/>
            </a:avLst>
          </a:prstGeom>
          <a:solidFill>
            <a:srgbClr val="FFFFFF"/>
          </a:solidFill>
          <a:ln w="12700">
            <a:solidFill>
              <a:srgbClr val="5A6275"/>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70408" bIns="70408"/>
          <a:lstStyle/>
          <a:p>
            <a:pPr algn="l">
              <a:spcAft>
                <a:spcPts val="200"/>
              </a:spcAft>
            </a:pPr>
            <a:r>
              <a:rPr sz="1050" b="1" i="0">
                <a:solidFill>
                  <a:srgbClr val="5A6275"/>
                </a:solidFill>
                <a:latin typeface="Calibri"/>
              </a:rPr>
              <a:t>After the decision, off the scoring path</a:t>
            </a:r>
          </a:p>
          <a:p>
            <a:pPr algn="l"/>
            <a:r>
              <a:rPr sz="1050" b="1" i="0">
                <a:solidFill>
                  <a:srgbClr val="222222"/>
                </a:solidFill>
                <a:latin typeface="Calibri"/>
              </a:rPr>
              <a:t>passkey: </a:t>
            </a:r>
            <a:r>
              <a:rPr sz="1050" b="0" i="0">
                <a:solidFill>
                  <a:srgbClr val="222222"/>
                </a:solidFill>
                <a:latin typeface="Calibri"/>
              </a:rPr>
              <a:t>WebAuthn passkey on the registered phone</a:t>
            </a:r>
          </a:p>
          <a:p>
            <a:pPr algn="l"/>
            <a:r>
              <a:rPr sz="1050" b="1" i="0">
                <a:solidFill>
                  <a:srgbClr val="222222"/>
                </a:solidFill>
                <a:latin typeface="Calibri"/>
              </a:rPr>
              <a:t>family: </a:t>
            </a:r>
            <a:r>
              <a:rPr sz="1050" b="0" i="0">
                <a:solidFill>
                  <a:srgbClr val="222222"/>
                </a:solidFill>
                <a:latin typeface="Calibri"/>
              </a:rPr>
              <a:t>n8n → Telegram Approve / Cancel → no reply in 30 min = cancel → label</a:t>
            </a:r>
          </a:p>
        </p:txBody>
      </p:sp>
      <p:cxnSp>
        <p:nvCxnSpPr>
          <p:cNvPr id="28" name="A after"/>
          <p:cNvCxnSpPr/>
          <p:nvPr/>
        </p:nvCxnSpPr>
        <p:spPr>
          <a:xfrm>
            <a:off x="10808208" y="3931920"/>
            <a:ext cx="0" cy="274320"/>
          </a:xfrm>
          <a:prstGeom prst="line">
            <a:avLst/>
          </a:prstGeom>
          <a:ln w="1587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Built vs mocked"/>
          <p:cNvSpPr txBox="1"/>
          <p:nvPr/>
        </p:nvSpPr>
        <p:spPr>
          <a:xfrm>
            <a:off x="457200" y="4206240"/>
            <a:ext cx="3977639" cy="777240"/>
          </a:xfrm>
          <a:prstGeom prst="rect">
            <a:avLst/>
          </a:prstGeom>
          <a:noFill/>
        </p:spPr>
        <p:txBody>
          <a:bodyPr wrap="square" lIns="0" rIns="0" tIns="0" bIns="0" anchor="t">
            <a:spAutoFit/>
          </a:bodyPr>
          <a:lstStyle/>
          <a:p>
            <a:pPr algn="l">
              <a:spcAft>
                <a:spcPts val="300"/>
              </a:spcAft>
            </a:pPr>
            <a:r>
              <a:rPr sz="1050" b="1" i="0">
                <a:solidFill>
                  <a:srgbClr val="2E7D32"/>
                </a:solidFill>
                <a:latin typeface="Calibri"/>
              </a:rPr>
              <a:t>Built in the hack: </a:t>
            </a:r>
            <a:r>
              <a:rPr sz="1050" b="0" i="0">
                <a:solidFill>
                  <a:srgbClr val="222222"/>
                </a:solidFill>
                <a:latin typeface="Calibri"/>
              </a:rPr>
              <a:t>everything in this diagram, plus a Supabase decision log and a React dashboard.</a:t>
            </a:r>
          </a:p>
          <a:p>
            <a:pPr algn="l"/>
            <a:r>
              <a:rPr sz="1050" b="1" i="0">
                <a:solidFill>
                  <a:srgbClr val="B25E00"/>
                </a:solidFill>
                <a:latin typeface="Calibri"/>
              </a:rPr>
              <a:t>Mocked: </a:t>
            </a:r>
            <a:r>
              <a:rPr sz="1050" b="0" i="0">
                <a:solidFill>
                  <a:srgbClr val="222222"/>
                </a:solidFill>
                <a:latin typeface="Calibri"/>
              </a:rPr>
              <a:t>bank/NPCI rails, DoT FRI and mule feeds, call and screen-share state (a browser can't read them; a mobile SDK would).</a:t>
            </a:r>
          </a:p>
        </p:txBody>
      </p:sp>
      <p:sp>
        <p:nvSpPr>
          <p:cNvPr id="30" name="Panel 1 rule"/>
          <p:cNvSpPr/>
          <p:nvPr/>
        </p:nvSpPr>
        <p:spPr>
          <a:xfrm>
            <a:off x="457200" y="5212080"/>
            <a:ext cx="3630168" cy="2743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anel 1"/>
          <p:cNvSpPr txBox="1"/>
          <p:nvPr/>
        </p:nvSpPr>
        <p:spPr>
          <a:xfrm>
            <a:off x="457200" y="5303520"/>
            <a:ext cx="3630168" cy="1280160"/>
          </a:xfrm>
          <a:prstGeom prst="rect">
            <a:avLst/>
          </a:prstGeom>
          <a:noFill/>
        </p:spPr>
        <p:txBody>
          <a:bodyPr wrap="square" lIns="0" rIns="0" tIns="0" bIns="0" anchor="t">
            <a:spAutoFit/>
          </a:bodyPr>
          <a:lstStyle/>
          <a:p>
            <a:pPr algn="l">
              <a:spcAft>
                <a:spcPts val="200"/>
              </a:spcAft>
            </a:pPr>
            <a:r>
              <a:rPr sz="1050" b="1" i="0">
                <a:solidFill>
                  <a:srgbClr val="1E2761"/>
                </a:solidFill>
                <a:latin typeface="Calibri"/>
              </a:rPr>
              <a:t>STACK · ₹0 RUNNING COST</a:t>
            </a:r>
          </a:p>
          <a:p>
            <a:pPr algn="l"/>
            <a:r>
              <a:rPr sz="1100" b="0" i="0">
                <a:solidFill>
                  <a:srgbClr val="222222"/>
                </a:solidFill>
                <a:latin typeface="Calibri"/>
              </a:rPr>
              <a:t>Python 3.11, FastAPI, LightGBM, shap on Render free tier · React (Vite) on Vercel · Supabase · n8n self-hosted + Telegram Bot API · WebAuthn</a:t>
            </a:r>
          </a:p>
        </p:txBody>
      </p:sp>
      <p:sp>
        <p:nvSpPr>
          <p:cNvPr id="32" name="Panel 2 rule"/>
          <p:cNvSpPr/>
          <p:nvPr/>
        </p:nvSpPr>
        <p:spPr>
          <a:xfrm>
            <a:off x="4288536" y="5212080"/>
            <a:ext cx="3630168" cy="2743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anel 2"/>
          <p:cNvSpPr txBox="1"/>
          <p:nvPr/>
        </p:nvSpPr>
        <p:spPr>
          <a:xfrm>
            <a:off x="4288536" y="5303520"/>
            <a:ext cx="3630168" cy="1280160"/>
          </a:xfrm>
          <a:prstGeom prst="rect">
            <a:avLst/>
          </a:prstGeom>
          <a:noFill/>
        </p:spPr>
        <p:txBody>
          <a:bodyPr wrap="square" lIns="0" rIns="0" tIns="0" bIns="0" anchor="t">
            <a:spAutoFit/>
          </a:bodyPr>
          <a:lstStyle/>
          <a:p>
            <a:pPr algn="l">
              <a:spcAft>
                <a:spcPts val="200"/>
              </a:spcAft>
            </a:pPr>
            <a:r>
              <a:rPr sz="1050" b="1" i="0">
                <a:solidFill>
                  <a:srgbClr val="1E2761"/>
                </a:solidFill>
                <a:latin typeface="Calibri"/>
              </a:rPr>
              <a:t>DATA</a:t>
            </a:r>
          </a:p>
          <a:p>
            <a:pPr algn="l"/>
            <a:r>
              <a:rPr sz="1100" b="0" i="0">
                <a:solidFill>
                  <a:srgbClr val="222222"/>
                </a:solidFill>
                <a:latin typeface="Calibri"/>
              </a:rPr>
              <a:t>No public dataset has behaviour, device and transaction signals together. Synthetic generator: 5,000 users, 30 days, 4 labelled attack types, plus honest look-alikes (travel, new phone, rent). Sanity check on IEEE-CIS and PaySim.</a:t>
            </a:r>
          </a:p>
        </p:txBody>
      </p:sp>
      <p:sp>
        <p:nvSpPr>
          <p:cNvPr id="34" name="Panel 3 rule"/>
          <p:cNvSpPr/>
          <p:nvPr/>
        </p:nvSpPr>
        <p:spPr>
          <a:xfrm>
            <a:off x="8119872" y="5212080"/>
            <a:ext cx="3630168" cy="2743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anel 3"/>
          <p:cNvSpPr txBox="1"/>
          <p:nvPr/>
        </p:nvSpPr>
        <p:spPr>
          <a:xfrm>
            <a:off x="8119872" y="5303520"/>
            <a:ext cx="3630168" cy="1280160"/>
          </a:xfrm>
          <a:prstGeom prst="rect">
            <a:avLst/>
          </a:prstGeom>
          <a:noFill/>
        </p:spPr>
        <p:txBody>
          <a:bodyPr wrap="square" lIns="0" rIns="0" tIns="0" bIns="0" anchor="t">
            <a:spAutoFit/>
          </a:bodyPr>
          <a:lstStyle/>
          <a:p>
            <a:pPr algn="l">
              <a:spcAft>
                <a:spcPts val="200"/>
              </a:spcAft>
            </a:pPr>
            <a:r>
              <a:rPr sz="1050" b="1" i="0">
                <a:solidFill>
                  <a:srgbClr val="1E2761"/>
                </a:solidFill>
                <a:latin typeface="Calibri"/>
              </a:rPr>
              <a:t>DECISION RULE</a:t>
            </a:r>
          </a:p>
          <a:p>
            <a:pPr algn="l"/>
            <a:r>
              <a:rPr sz="1100" b="0" i="0">
                <a:solidFill>
                  <a:srgbClr val="222222"/>
                </a:solidFill>
                <a:latin typeface="Calibri"/>
              </a:rPr>
              <a:t>Block if p ≥ 0.90 or a hard rule fires. Challenge if p ≥ ₹500 ÷ amount, kept between 0.05 and 0.60 (×0.6 for users 70+). Challenge type: lowest friction + p × amount × (1 − how well it stops this risk type).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A deployed, working prototype in the hack, honest about its limits</a:t>
            </a:r>
            <a:endParaRPr lang="en-US" sz="2000" dirty="0"/>
          </a:p>
        </p:txBody>
      </p:sp>
      <p:sp>
        <p:nvSpPr>
          <p:cNvPr id="13" name="Text 1">
            <a:extLst>
              <a:ext uri="{FF2B5EF4-FFF2-40B4-BE49-F238E27FC236}">
                <a16:creationId xmlns:a16="http://schemas.microsoft.com/office/drawing/2014/main" id="{3F1D7908-2C9B-D0C1-C6B4-F476CD7593EC}"/>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5 OF 5</a:t>
            </a:r>
            <a:endParaRPr lang="en-US" sz="1200" dirty="0"/>
          </a:p>
        </p:txBody>
      </p:sp>
      <p:sp>
        <p:nvSpPr>
          <p:cNvPr id="15" name="Text 2">
            <a:extLst>
              <a:ext uri="{FF2B5EF4-FFF2-40B4-BE49-F238E27FC236}">
                <a16:creationId xmlns:a16="http://schemas.microsoft.com/office/drawing/2014/main" id="{AB4164AD-F079-5D4C-5467-4DABD5DBBFFD}"/>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Build Plan, Risks &amp; Impact</a:t>
            </a:r>
            <a:endParaRPr lang="en-US" sz="2800" dirty="0"/>
          </a:p>
        </p:txBody>
      </p:sp>
      <p:sp>
        <p:nvSpPr>
          <p:cNvPr id="16" name="Col head 1"/>
          <p:cNvSpPr txBox="1"/>
          <p:nvPr/>
        </p:nvSpPr>
        <p:spPr>
          <a:xfrm>
            <a:off x="457200" y="2560320"/>
            <a:ext cx="3630168" cy="292608"/>
          </a:xfrm>
          <a:prstGeom prst="rect">
            <a:avLst/>
          </a:prstGeom>
          <a:noFill/>
        </p:spPr>
        <p:txBody>
          <a:bodyPr wrap="square" lIns="0" rIns="0" tIns="0" bIns="0" anchor="t">
            <a:spAutoFit/>
          </a:bodyPr>
          <a:lstStyle/>
          <a:p>
            <a:pPr algn="l"/>
            <a:r>
              <a:rPr sz="1250" b="1" i="0">
                <a:solidFill>
                  <a:srgbClr val="1E2761"/>
                </a:solidFill>
                <a:latin typeface="Calibri"/>
              </a:rPr>
              <a:t>1 · WHAT WE WILL BUILD</a:t>
            </a:r>
          </a:p>
        </p:txBody>
      </p:sp>
      <p:sp>
        <p:nvSpPr>
          <p:cNvPr id="17" name="Col rule 1"/>
          <p:cNvSpPr/>
          <p:nvPr/>
        </p:nvSpPr>
        <p:spPr>
          <a:xfrm>
            <a:off x="457200" y="2871216"/>
            <a:ext cx="3630168" cy="3200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ol head 2"/>
          <p:cNvSpPr txBox="1"/>
          <p:nvPr/>
        </p:nvSpPr>
        <p:spPr>
          <a:xfrm>
            <a:off x="4288536" y="2560320"/>
            <a:ext cx="3630168" cy="292608"/>
          </a:xfrm>
          <a:prstGeom prst="rect">
            <a:avLst/>
          </a:prstGeom>
          <a:noFill/>
        </p:spPr>
        <p:txBody>
          <a:bodyPr wrap="square" lIns="0" rIns="0" tIns="0" bIns="0" anchor="t">
            <a:spAutoFit/>
          </a:bodyPr>
          <a:lstStyle/>
          <a:p>
            <a:pPr algn="l"/>
            <a:r>
              <a:rPr sz="1250" b="1" i="0">
                <a:solidFill>
                  <a:srgbClr val="1E2761"/>
                </a:solidFill>
                <a:latin typeface="Calibri"/>
              </a:rPr>
              <a:t>2 · RISKS &amp; LIMITATIONS</a:t>
            </a:r>
          </a:p>
        </p:txBody>
      </p:sp>
      <p:sp>
        <p:nvSpPr>
          <p:cNvPr id="19" name="Col rule 2"/>
          <p:cNvSpPr/>
          <p:nvPr/>
        </p:nvSpPr>
        <p:spPr>
          <a:xfrm>
            <a:off x="4288536" y="2871216"/>
            <a:ext cx="3630168" cy="3200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ol head 3"/>
          <p:cNvSpPr txBox="1"/>
          <p:nvPr/>
        </p:nvSpPr>
        <p:spPr>
          <a:xfrm>
            <a:off x="8119872" y="2560320"/>
            <a:ext cx="3630168" cy="292608"/>
          </a:xfrm>
          <a:prstGeom prst="rect">
            <a:avLst/>
          </a:prstGeom>
          <a:noFill/>
        </p:spPr>
        <p:txBody>
          <a:bodyPr wrap="square" lIns="0" rIns="0" tIns="0" bIns="0" anchor="t">
            <a:spAutoFit/>
          </a:bodyPr>
          <a:lstStyle/>
          <a:p>
            <a:pPr algn="l"/>
            <a:r>
              <a:rPr sz="1250" b="1" i="0">
                <a:solidFill>
                  <a:srgbClr val="1E2761"/>
                </a:solidFill>
                <a:latin typeface="Calibri"/>
              </a:rPr>
              <a:t>3 · EXPECTED IMPACT</a:t>
            </a:r>
          </a:p>
        </p:txBody>
      </p:sp>
      <p:sp>
        <p:nvSpPr>
          <p:cNvPr id="21" name="Col rule 3"/>
          <p:cNvSpPr/>
          <p:nvPr/>
        </p:nvSpPr>
        <p:spPr>
          <a:xfrm>
            <a:off x="8119872" y="2871216"/>
            <a:ext cx="3630168" cy="3200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uild body"/>
          <p:cNvSpPr txBox="1"/>
          <p:nvPr/>
        </p:nvSpPr>
        <p:spPr>
          <a:xfrm>
            <a:off x="457200" y="3017520"/>
            <a:ext cx="3630168" cy="3566160"/>
          </a:xfrm>
          <a:prstGeom prst="rect">
            <a:avLst/>
          </a:prstGeom>
          <a:noFill/>
        </p:spPr>
        <p:txBody>
          <a:bodyPr wrap="square" lIns="0" rIns="0" tIns="0" bIns="0" anchor="t">
            <a:spAutoFit/>
          </a:bodyPr>
          <a:lstStyle/>
          <a:p>
            <a:pPr algn="l">
              <a:spcAft>
                <a:spcPts val="500"/>
              </a:spcAft>
            </a:pPr>
            <a:r>
              <a:rPr sz="1200" b="1" i="0">
                <a:solidFill>
                  <a:srgbClr val="1E2761"/>
                </a:solidFill>
                <a:latin typeface="Calibri"/>
              </a:rPr>
              <a:t>1  </a:t>
            </a:r>
            <a:r>
              <a:rPr sz="1200" b="0" i="0">
                <a:solidFill>
                  <a:srgbClr val="222222"/>
                </a:solidFill>
                <a:latin typeface="Calibri"/>
              </a:rPr>
              <a:t>Live /v1/authenticate on Render, with the 2FA fail-safe</a:t>
            </a:r>
          </a:p>
          <a:p>
            <a:pPr algn="l">
              <a:spcAft>
                <a:spcPts val="500"/>
              </a:spcAft>
            </a:pPr>
            <a:r>
              <a:rPr sz="1200" b="1" i="0">
                <a:solidFill>
                  <a:srgbClr val="1E2761"/>
                </a:solidFill>
                <a:latin typeface="Calibri"/>
              </a:rPr>
              <a:t>2  </a:t>
            </a:r>
            <a:r>
              <a:rPr sz="1200" b="0" i="0">
                <a:solidFill>
                  <a:srgbClr val="222222"/>
                </a:solidFill>
                <a:latin typeface="Calibri"/>
              </a:rPr>
              <a:t>Risk engine with reasons, trained on synthetic data</a:t>
            </a:r>
          </a:p>
          <a:p>
            <a:pPr algn="l">
              <a:spcAft>
                <a:spcPts val="500"/>
              </a:spcAft>
            </a:pPr>
            <a:r>
              <a:rPr sz="1200" b="1" i="0">
                <a:solidFill>
                  <a:srgbClr val="1E2761"/>
                </a:solidFill>
                <a:latin typeface="Calibri"/>
              </a:rPr>
              <a:t>3  </a:t>
            </a:r>
            <a:r>
              <a:rPr sz="1200" b="0" i="0">
                <a:solidFill>
                  <a:srgbClr val="222222"/>
                </a:solidFill>
                <a:latin typeface="Calibri"/>
              </a:rPr>
              <a:t>Demo UPI app: registered-phone passkey and the n8n + Telegram family loop</a:t>
            </a:r>
          </a:p>
          <a:p>
            <a:pPr algn="l">
              <a:spcAft>
                <a:spcPts val="500"/>
              </a:spcAft>
            </a:pPr>
            <a:r>
              <a:rPr sz="1200" b="1" i="0">
                <a:solidFill>
                  <a:srgbClr val="1E2761"/>
                </a:solidFill>
                <a:latin typeface="Calibri"/>
              </a:rPr>
              <a:t>4  </a:t>
            </a:r>
            <a:r>
              <a:rPr sz="1200" b="0" i="0">
                <a:solidFill>
                  <a:srgbClr val="222222"/>
                </a:solidFill>
                <a:latin typeface="Calibri"/>
              </a:rPr>
              <a:t>Dashboard: live decisions, their reasons, latency</a:t>
            </a:r>
          </a:p>
          <a:p>
            <a:pPr algn="l">
              <a:spcAft>
                <a:spcPts val="500"/>
              </a:spcAft>
            </a:pPr>
            <a:r>
              <a:rPr sz="1200" b="1" i="0">
                <a:solidFill>
                  <a:srgbClr val="1E2761"/>
                </a:solidFill>
                <a:latin typeface="Calibri"/>
              </a:rPr>
              <a:t>5  </a:t>
            </a:r>
            <a:r>
              <a:rPr sz="1200" b="0" i="0">
                <a:solidFill>
                  <a:srgbClr val="222222"/>
                </a:solidFill>
                <a:latin typeface="Calibri"/>
              </a:rPr>
              <a:t>Replay: our policy vs RBI's blanket delay on the same traffic</a:t>
            </a:r>
          </a:p>
          <a:p>
            <a:pPr algn="l"/>
            <a:r>
              <a:rPr sz="600" b="0" i="0">
                <a:solidFill>
                  <a:srgbClr val="222222"/>
                </a:solidFill>
                <a:latin typeface="Calibri"/>
              </a:rPr>
              <a:t/>
            </a:r>
          </a:p>
          <a:p>
            <a:pPr algn="l">
              <a:spcAft>
                <a:spcPts val="300"/>
              </a:spcAft>
            </a:pPr>
            <a:r>
              <a:rPr sz="1050" b="1" i="0">
                <a:solidFill>
                  <a:srgbClr val="1E2761"/>
                </a:solidFill>
                <a:latin typeface="Calibri"/>
              </a:rPr>
              <a:t>48-HOUR PLAN</a:t>
            </a:r>
          </a:p>
          <a:p>
            <a:pPr algn="l">
              <a:spcAft>
                <a:spcPts val="100"/>
              </a:spcAft>
            </a:pPr>
            <a:r>
              <a:rPr sz="1050" b="1" i="0">
                <a:solidFill>
                  <a:srgbClr val="222222"/>
                </a:solidFill>
                <a:latin typeface="Calibri"/>
              </a:rPr>
              <a:t>H0–8</a:t>
            </a:r>
            <a:r>
              <a:rPr sz="1050" b="0" i="0">
                <a:solidFill>
                  <a:srgbClr val="222222"/>
                </a:solidFill>
                <a:latin typeface="Calibri"/>
              </a:rPr>
              <a:t>  data generator, API skeleton</a:t>
            </a:r>
          </a:p>
          <a:p>
            <a:pPr algn="l">
              <a:spcAft>
                <a:spcPts val="100"/>
              </a:spcAft>
            </a:pPr>
            <a:r>
              <a:rPr sz="1050" b="1" i="0">
                <a:solidFill>
                  <a:srgbClr val="222222"/>
                </a:solidFill>
                <a:latin typeface="Calibri"/>
              </a:rPr>
              <a:t>H8–20</a:t>
            </a:r>
            <a:r>
              <a:rPr sz="1050" b="0" i="0">
                <a:solidFill>
                  <a:srgbClr val="222222"/>
                </a:solidFill>
                <a:latin typeface="Calibri"/>
              </a:rPr>
              <a:t>  engine + /v1/authenticate</a:t>
            </a:r>
          </a:p>
          <a:p>
            <a:pPr algn="l">
              <a:spcAft>
                <a:spcPts val="100"/>
              </a:spcAft>
            </a:pPr>
            <a:r>
              <a:rPr sz="1050" b="1" i="0">
                <a:solidFill>
                  <a:srgbClr val="222222"/>
                </a:solidFill>
                <a:latin typeface="Calibri"/>
              </a:rPr>
              <a:t>H20–34</a:t>
            </a:r>
            <a:r>
              <a:rPr sz="1050" b="0" i="0">
                <a:solidFill>
                  <a:srgbClr val="222222"/>
                </a:solidFill>
                <a:latin typeface="Calibri"/>
              </a:rPr>
              <a:t>  app, passkeys, n8n loop</a:t>
            </a:r>
          </a:p>
          <a:p>
            <a:pPr algn="l">
              <a:spcAft>
                <a:spcPts val="100"/>
              </a:spcAft>
            </a:pPr>
            <a:r>
              <a:rPr sz="1050" b="1" i="0">
                <a:solidFill>
                  <a:srgbClr val="222222"/>
                </a:solidFill>
                <a:latin typeface="Calibri"/>
              </a:rPr>
              <a:t>H34–44</a:t>
            </a:r>
            <a:r>
              <a:rPr sz="1050" b="0" i="0">
                <a:solidFill>
                  <a:srgbClr val="222222"/>
                </a:solidFill>
                <a:latin typeface="Calibri"/>
              </a:rPr>
              <a:t>  dashboard, replay, load test</a:t>
            </a:r>
          </a:p>
          <a:p>
            <a:pPr algn="l">
              <a:spcAft>
                <a:spcPts val="100"/>
              </a:spcAft>
            </a:pPr>
            <a:r>
              <a:rPr sz="1050" b="1" i="0">
                <a:solidFill>
                  <a:srgbClr val="222222"/>
                </a:solidFill>
                <a:latin typeface="Calibri"/>
              </a:rPr>
              <a:t>H44–48</a:t>
            </a:r>
            <a:r>
              <a:rPr sz="1050" b="0" i="0">
                <a:solidFill>
                  <a:srgbClr val="222222"/>
                </a:solidFill>
                <a:latin typeface="Calibri"/>
              </a:rPr>
              <a:t>  deploy, rehearse</a:t>
            </a:r>
          </a:p>
        </p:txBody>
      </p:sp>
      <p:sp>
        <p:nvSpPr>
          <p:cNvPr id="23" name="Risks body"/>
          <p:cNvSpPr txBox="1"/>
          <p:nvPr/>
        </p:nvSpPr>
        <p:spPr>
          <a:xfrm>
            <a:off x="4288536" y="3017520"/>
            <a:ext cx="3630168" cy="3566160"/>
          </a:xfrm>
          <a:prstGeom prst="rect">
            <a:avLst/>
          </a:prstGeom>
          <a:noFill/>
        </p:spPr>
        <p:txBody>
          <a:bodyPr wrap="square" lIns="0" rIns="0" tIns="0" bIns="0" anchor="t">
            <a:spAutoFit/>
          </a:bodyPr>
          <a:lstStyle/>
          <a:p>
            <a:pPr algn="l"/>
            <a:r>
              <a:rPr sz="1200" b="1" i="0">
                <a:solidFill>
                  <a:srgbClr val="C62828"/>
                </a:solidFill>
                <a:latin typeface="Calibri"/>
              </a:rPr>
              <a:t>Synthetic data</a:t>
            </a:r>
          </a:p>
          <a:p>
            <a:pPr algn="l">
              <a:spcAft>
                <a:spcPts val="700"/>
              </a:spcAft>
            </a:pPr>
            <a:r>
              <a:rPr sz="1100" b="0" i="0">
                <a:solidFill>
                  <a:srgbClr val="222222"/>
                </a:solidFill>
                <a:latin typeface="Calibri"/>
              </a:rPr>
              <a:t>The model learns our generator, not real fraud. </a:t>
            </a:r>
            <a:r>
              <a:rPr sz="1100" b="0" i="1">
                <a:solidFill>
                  <a:srgbClr val="5A6275"/>
                </a:solidFill>
                <a:latin typeface="Calibri"/>
              </a:rPr>
              <a:t>Honest look-alikes, results per attack type, checks on public data; a bank pilot retrains on real history.</a:t>
            </a:r>
          </a:p>
          <a:p>
            <a:pPr algn="l"/>
            <a:r>
              <a:rPr sz="1200" b="1" i="0">
                <a:solidFill>
                  <a:srgbClr val="C62828"/>
                </a:solidFill>
                <a:latin typeface="Calibri"/>
              </a:rPr>
              <a:t>Call state needs an SDK</a:t>
            </a:r>
          </a:p>
          <a:p>
            <a:pPr algn="l">
              <a:spcAft>
                <a:spcPts val="700"/>
              </a:spcAft>
            </a:pPr>
            <a:r>
              <a:rPr sz="1100" b="0" i="0">
                <a:solidFill>
                  <a:srgbClr val="222222"/>
                </a:solidFill>
                <a:latin typeface="Calibri"/>
              </a:rPr>
              <a:t>A browser can't see calls or screen-sharing. </a:t>
            </a:r>
            <a:r>
              <a:rPr sz="1100" b="0" i="1">
                <a:solidFill>
                  <a:srgbClr val="5A6275"/>
                </a:solidFill>
                <a:latin typeface="Calibri"/>
              </a:rPr>
              <a:t>A missing signal counts as “unknown”, never “safe”.</a:t>
            </a:r>
          </a:p>
          <a:p>
            <a:pPr algn="l"/>
            <a:r>
              <a:rPr sz="1200" b="1" i="0">
                <a:solidFill>
                  <a:srgbClr val="C62828"/>
                </a:solidFill>
                <a:latin typeface="Calibri"/>
              </a:rPr>
              <a:t>False positives</a:t>
            </a:r>
          </a:p>
          <a:p>
            <a:pPr algn="l">
              <a:spcAft>
                <a:spcPts val="700"/>
              </a:spcAft>
            </a:pPr>
            <a:r>
              <a:rPr sz="1100" b="0" i="0">
                <a:solidFill>
                  <a:srgbClr val="222222"/>
                </a:solidFill>
                <a:latin typeface="Calibri"/>
              </a:rPr>
              <a:t>Holding a genuine urgent payment hurts. </a:t>
            </a:r>
            <a:r>
              <a:rPr sz="1100" b="0" i="1">
                <a:solidFill>
                  <a:srgbClr val="5A6275"/>
                </a:solidFill>
                <a:latin typeface="Calibri"/>
              </a:rPr>
              <a:t>Block only at p ≥ 0.90; challenge at most 5% of honest payments; cancel anytime.</a:t>
            </a:r>
          </a:p>
          <a:p>
            <a:pPr algn="l"/>
            <a:r>
              <a:rPr sz="1200" b="1" i="0">
                <a:solidFill>
                  <a:srgbClr val="C62828"/>
                </a:solidFill>
                <a:latin typeface="Calibri"/>
              </a:rPr>
              <a:t>Privacy (DPDP Act)</a:t>
            </a:r>
          </a:p>
          <a:p>
            <a:pPr algn="l"/>
            <a:r>
              <a:rPr sz="1100" b="0" i="0">
                <a:solidFill>
                  <a:srgbClr val="222222"/>
                </a:solidFill>
                <a:latin typeface="Calibri"/>
              </a:rPr>
              <a:t>Behaviour data is personal data. </a:t>
            </a:r>
            <a:r>
              <a:rPr sz="1100" b="0" i="1">
                <a:solidFill>
                  <a:srgbClr val="5A6275"/>
                </a:solidFill>
                <a:latin typeface="Calibri"/>
              </a:rPr>
              <a:t>Derived features only, hashed device IDs, a retention window.</a:t>
            </a:r>
          </a:p>
        </p:txBody>
      </p:sp>
      <p:sp>
        <p:nvSpPr>
          <p:cNvPr id="24" name="Impact body"/>
          <p:cNvSpPr txBox="1"/>
          <p:nvPr/>
        </p:nvSpPr>
        <p:spPr>
          <a:xfrm>
            <a:off x="8119872" y="3017520"/>
            <a:ext cx="3630168" cy="3566160"/>
          </a:xfrm>
          <a:prstGeom prst="rect">
            <a:avLst/>
          </a:prstGeom>
          <a:noFill/>
        </p:spPr>
        <p:txBody>
          <a:bodyPr wrap="square" lIns="0" rIns="0" tIns="0" bIns="0" anchor="t">
            <a:spAutoFit/>
          </a:bodyPr>
          <a:lstStyle/>
          <a:p>
            <a:pPr algn="l">
              <a:spcAft>
                <a:spcPts val="600"/>
              </a:spcAft>
            </a:pPr>
            <a:r>
              <a:rPr sz="1150" b="1" i="0">
                <a:solidFill>
                  <a:srgbClr val="222222"/>
                </a:solidFill>
                <a:latin typeface="Calibri"/>
              </a:rPr>
              <a:t>Targets for the prototype:</a:t>
            </a:r>
          </a:p>
          <a:p>
            <a:pPr algn="l"/>
            <a:r>
              <a:rPr sz="2200" b="1" i="0">
                <a:solidFill>
                  <a:srgbClr val="1E2761"/>
                </a:solidFill>
                <a:latin typeface="Cambria"/>
              </a:rPr>
              <a:t>≥ 80%</a:t>
            </a:r>
          </a:p>
          <a:p>
            <a:pPr algn="l">
              <a:spcAft>
                <a:spcPts val="700"/>
              </a:spcAft>
            </a:pPr>
            <a:r>
              <a:rPr sz="1100" b="0" i="0">
                <a:solidFill>
                  <a:srgbClr val="222222"/>
                </a:solidFill>
                <a:latin typeface="Calibri"/>
              </a:rPr>
              <a:t>of scam-type fraud stopped, while challenging ≤ 5% of honest payments</a:t>
            </a:r>
          </a:p>
          <a:p>
            <a:pPr algn="l"/>
            <a:r>
              <a:rPr sz="2200" b="1" i="0">
                <a:solidFill>
                  <a:srgbClr val="1E2761"/>
                </a:solidFill>
                <a:latin typeface="Cambria"/>
              </a:rPr>
              <a:t>≥ 90%</a:t>
            </a:r>
          </a:p>
          <a:p>
            <a:pPr algn="l">
              <a:spcAft>
                <a:spcPts val="700"/>
              </a:spcAft>
            </a:pPr>
            <a:r>
              <a:rPr sz="1100" b="0" i="0">
                <a:solidFill>
                  <a:srgbClr val="222222"/>
                </a:solidFill>
                <a:latin typeface="Calibri"/>
              </a:rPr>
              <a:t>of honest ₹10,000+ transfers go through with no delay (a blanket rule delays all of them)</a:t>
            </a:r>
          </a:p>
          <a:p>
            <a:pPr algn="l"/>
            <a:r>
              <a:rPr sz="2200" b="1" i="0">
                <a:solidFill>
                  <a:srgbClr val="1E2761"/>
                </a:solidFill>
                <a:latin typeface="Cambria"/>
              </a:rPr>
              <a:t>&lt; 50 ms</a:t>
            </a:r>
          </a:p>
          <a:p>
            <a:pPr algn="l">
              <a:spcAft>
                <a:spcPts val="700"/>
              </a:spcAft>
            </a:pPr>
            <a:r>
              <a:rPr sz="1100" b="0" i="0">
                <a:solidFill>
                  <a:srgbClr val="222222"/>
                </a:solidFill>
                <a:latin typeface="Calibri"/>
              </a:rPr>
              <a:t>p95 decision time, a small slice of UPI's 15-second response limit</a:t>
            </a:r>
          </a:p>
          <a:p>
            <a:pPr algn="l"/>
            <a:r>
              <a:rPr sz="1000" b="0" i="1">
                <a:solidFill>
                  <a:srgbClr val="5A6275"/>
                </a:solidFill>
                <a:latin typeface="Calibri"/>
              </a:rPr>
              <a:t>Targets, measured on held-out synthetic data and shown live; the amount threshold is tuned so the 5% and 90% targets hold together. Baselines: OTP-only, a fixed threshold, RBI's blanket delay.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